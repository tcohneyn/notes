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4" r:id="rId3"/>
    <p:sldId id="256" r:id="rId4"/>
    <p:sldId id="257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4BCCEA-3A0B-C537-E725-A342D6B0F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0CE34B5-B1E3-E153-A86F-4F8A8D6C1F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6B5FD1-627E-CAF0-3B76-F4EF33536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4EB6F5-F9D4-015D-7EF0-3E02FB59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FA25C4-4455-B582-F261-936D16FC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817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BBD225-D89F-586E-A14C-5F6E7CF27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EFA71B-A051-1DAC-651F-2D36A80E0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B60383-1786-755D-3FDE-7742D82FE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13976B-6A2F-3301-3B02-E6CBB672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11E6CB-FE10-A71B-F548-32FD46E32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81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4DED78-3628-0DC2-C5DA-1633DA3E1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1CFAB7-B5E5-2D97-22EF-5965DCB58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193E76-77D1-E46D-7B56-18D77FD6E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ED5145-67D8-328C-F97C-11E0BE1A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713AF0-9A90-544F-6D71-B5F87BC22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3646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01B17E-E8C8-8B9E-E1A3-04CE70FCE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7F93C3-F726-D022-9207-3D72C3EFF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4EE24F-EAA1-1E10-806B-394D8F5A0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3916B37-090A-B274-6C39-BBEBA27F4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11B9DC-99C4-F411-EEE9-59E9F470A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4905C0-9CE1-C666-D7BF-4BE8E27FF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032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574909-3D3D-8AF0-CDE8-5D253753C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6B08DE-1580-94F5-B860-9B849C26D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1B2153-6EF2-F8BA-ED72-CE68259D7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40C514C-05AF-063E-B721-3E879F334A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76CECE4-A2CC-5E2F-C72E-68D207E10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12F5E7F-B3FB-06DB-0588-272B5C611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4F512DB-442B-C011-03FD-7D812661B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D76B8-D67F-137F-7626-7859423EA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451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87717-F233-E547-3B8C-D9F36295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BC2714C-5054-A9E6-61E6-09CA843E1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C49328D-6BC9-CDC9-DE0C-B765C8A3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90407-0287-D42F-BD01-B89F6967A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7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F389B5-3E70-8A44-5373-90BE23B11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EAC016F-6F8F-6C8B-D09B-931D94EDE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1D1B21-78EA-1004-2617-FB2E2E6F6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7268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3D3189-8915-BF9E-A931-5317D4646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6BD651-A269-1D37-861B-EFEA31A02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5FBFC9-1A2A-21A6-E3B1-5FBBFF966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7949F1-6A56-3480-0B81-88F223A31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2D6F3D-1964-4C89-3C05-3E9D590F6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146211A-E038-CDD7-1348-0A18644A9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9616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09A6EB-91D5-58BD-93CA-C146B55FF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C31EA59-E355-F1AF-9987-7FEE44122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CB8DE7E-E474-8C0B-701A-A2CA53A17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0AB135-D9C5-6A9A-63D3-5EAB9ADC4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658833-F156-4D9D-955F-0618904DB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D1CBF8-0159-AA90-B825-A5E7EFD8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4822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7886C8-75BB-FF18-0DFB-49783189E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E82597E-857F-6A79-FF7A-218537F896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F2F957-D035-F3FE-0B6E-B7F456101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55F3FC-3781-3B34-18A2-3817BF9F7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97C75F-1122-221B-B203-5C7019B66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4774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2B5F3A-7B3C-F40B-FD9C-4294FD2E0E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232485-AD59-A1B1-6641-8465D4581C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0F2D91-FEBA-59AF-3C60-077DD6F01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83479D-50BD-52B2-49EC-F91C0ED91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2E0B31-47D3-88BC-774E-9C5E7207E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8608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DC110F4-44A9-8DBE-52BB-34078BD64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F5746B-F635-61D7-E75B-B0184A24E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4C882-8559-A7EA-33F2-1E5BA294E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4B572-3F4B-4F02-BC85-067D30731B0F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14352F-B773-0257-F5D2-FAE2656A96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12CD34-07AC-318B-3514-9019975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1F5B0-C0A9-4801-A042-5ABD5B7DFCB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3633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38103-DEA9-09BC-D9AB-AC1B4B131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E1ACF9-E7D9-A48C-6EE0-C6C221091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类的设计</a:t>
            </a:r>
          </a:p>
        </p:txBody>
      </p:sp>
      <p:sp>
        <p:nvSpPr>
          <p:cNvPr id="9" name="流程图: 终止 8">
            <a:extLst>
              <a:ext uri="{FF2B5EF4-FFF2-40B4-BE49-F238E27FC236}">
                <a16:creationId xmlns:a16="http://schemas.microsoft.com/office/drawing/2014/main" id="{4BE46E24-7916-925D-0D9C-D55E8C6AFFCD}"/>
              </a:ext>
            </a:extLst>
          </p:cNvPr>
          <p:cNvSpPr/>
          <p:nvPr/>
        </p:nvSpPr>
        <p:spPr>
          <a:xfrm>
            <a:off x="331601" y="1499300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APlayerController</a:t>
            </a:r>
            <a:endParaRPr lang="en-US" altLang="zh-CN" sz="1100" dirty="0"/>
          </a:p>
        </p:txBody>
      </p:sp>
      <p:sp>
        <p:nvSpPr>
          <p:cNvPr id="11" name="流程图: 终止 10">
            <a:extLst>
              <a:ext uri="{FF2B5EF4-FFF2-40B4-BE49-F238E27FC236}">
                <a16:creationId xmlns:a16="http://schemas.microsoft.com/office/drawing/2014/main" id="{53D41F82-365C-EF9D-1FE5-9EE59F92173A}"/>
              </a:ext>
            </a:extLst>
          </p:cNvPr>
          <p:cNvSpPr/>
          <p:nvPr/>
        </p:nvSpPr>
        <p:spPr>
          <a:xfrm>
            <a:off x="1890286" y="1499298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AFrontendPlayerController</a:t>
            </a:r>
            <a:endParaRPr lang="en-US" altLang="zh-CN" sz="1100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E5B7727B-B1E7-B1D3-ACBF-FC44751AD3BC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1718967" y="1697156"/>
            <a:ext cx="171319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1CF5DA23-991D-0314-75A0-056C7C7BD49E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>
            <a:off x="3277652" y="1697156"/>
            <a:ext cx="1713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流程图: 终止 20">
            <a:extLst>
              <a:ext uri="{FF2B5EF4-FFF2-40B4-BE49-F238E27FC236}">
                <a16:creationId xmlns:a16="http://schemas.microsoft.com/office/drawing/2014/main" id="{87AABCDA-CC6B-7585-07B6-7B186A5D0247}"/>
              </a:ext>
            </a:extLst>
          </p:cNvPr>
          <p:cNvSpPr/>
          <p:nvPr/>
        </p:nvSpPr>
        <p:spPr>
          <a:xfrm>
            <a:off x="331601" y="2641776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UGameInstanceSubsystem</a:t>
            </a:r>
            <a:endParaRPr lang="en-US" altLang="zh-CN" sz="1100" dirty="0"/>
          </a:p>
        </p:txBody>
      </p:sp>
      <p:sp>
        <p:nvSpPr>
          <p:cNvPr id="23" name="流程图: 终止 22">
            <a:extLst>
              <a:ext uri="{FF2B5EF4-FFF2-40B4-BE49-F238E27FC236}">
                <a16:creationId xmlns:a16="http://schemas.microsoft.com/office/drawing/2014/main" id="{E936C422-62A9-46E3-1D05-FB62EA99396B}"/>
              </a:ext>
            </a:extLst>
          </p:cNvPr>
          <p:cNvSpPr/>
          <p:nvPr/>
        </p:nvSpPr>
        <p:spPr>
          <a:xfrm>
            <a:off x="1890286" y="2641775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UFrontendUISubsystem</a:t>
            </a:r>
            <a:endParaRPr lang="en-US" altLang="zh-CN" sz="1100" dirty="0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17FF410-D3A5-8AB6-4806-2EDB6E2379FC}"/>
              </a:ext>
            </a:extLst>
          </p:cNvPr>
          <p:cNvSpPr/>
          <p:nvPr/>
        </p:nvSpPr>
        <p:spPr>
          <a:xfrm>
            <a:off x="3448971" y="1499298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BP_FrontendController</a:t>
            </a:r>
            <a:endParaRPr lang="en-US" altLang="zh-CN" sz="1100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3AA32CD-8798-999E-1AED-8E57B474491B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 flipV="1">
            <a:off x="1718967" y="2839633"/>
            <a:ext cx="171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5052F073-8CB8-C9AA-C8CB-5224ACDF3A3B}"/>
              </a:ext>
            </a:extLst>
          </p:cNvPr>
          <p:cNvSpPr txBox="1"/>
          <p:nvPr/>
        </p:nvSpPr>
        <p:spPr>
          <a:xfrm>
            <a:off x="3448971" y="2641775"/>
            <a:ext cx="650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单例</a:t>
            </a:r>
          </a:p>
        </p:txBody>
      </p:sp>
      <p:sp>
        <p:nvSpPr>
          <p:cNvPr id="3" name="流程图: 终止 2">
            <a:extLst>
              <a:ext uri="{FF2B5EF4-FFF2-40B4-BE49-F238E27FC236}">
                <a16:creationId xmlns:a16="http://schemas.microsoft.com/office/drawing/2014/main" id="{2FB2A5B8-8262-A809-7D46-23BAD4302972}"/>
              </a:ext>
            </a:extLst>
          </p:cNvPr>
          <p:cNvSpPr/>
          <p:nvPr/>
        </p:nvSpPr>
        <p:spPr>
          <a:xfrm>
            <a:off x="331601" y="3586393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UCommonUserWidget</a:t>
            </a:r>
            <a:endParaRPr lang="en-US" altLang="zh-CN" sz="1100" dirty="0"/>
          </a:p>
        </p:txBody>
      </p:sp>
      <p:sp>
        <p:nvSpPr>
          <p:cNvPr id="4" name="流程图: 终止 3">
            <a:extLst>
              <a:ext uri="{FF2B5EF4-FFF2-40B4-BE49-F238E27FC236}">
                <a16:creationId xmlns:a16="http://schemas.microsoft.com/office/drawing/2014/main" id="{4DA7DDFB-6447-23F4-C325-68FA19DEB1A7}"/>
              </a:ext>
            </a:extLst>
          </p:cNvPr>
          <p:cNvSpPr/>
          <p:nvPr/>
        </p:nvSpPr>
        <p:spPr>
          <a:xfrm>
            <a:off x="1890286" y="3586392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UWidget_PrimaryLayout</a:t>
            </a:r>
            <a:endParaRPr lang="en-US" altLang="zh-CN" sz="1100" dirty="0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8B02CA5-7AEA-BFA9-200C-9CA30E6EBDF0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1718967" y="3784250"/>
            <a:ext cx="171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流程图: 终止 5">
            <a:extLst>
              <a:ext uri="{FF2B5EF4-FFF2-40B4-BE49-F238E27FC236}">
                <a16:creationId xmlns:a16="http://schemas.microsoft.com/office/drawing/2014/main" id="{492C516E-1D01-EAA7-86F5-C16B9F128A29}"/>
              </a:ext>
            </a:extLst>
          </p:cNvPr>
          <p:cNvSpPr/>
          <p:nvPr/>
        </p:nvSpPr>
        <p:spPr>
          <a:xfrm>
            <a:off x="1890286" y="4615614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UCommonActivatableWidget</a:t>
            </a:r>
            <a:endParaRPr lang="en-US" altLang="zh-CN" sz="1100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7479CA93-2307-4360-FD2A-ED5F45C5A2D9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718967" y="3784251"/>
            <a:ext cx="171319" cy="102922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A380C5A-95EF-0A52-2CCB-C106FF18895C}"/>
              </a:ext>
            </a:extLst>
          </p:cNvPr>
          <p:cNvSpPr/>
          <p:nvPr/>
        </p:nvSpPr>
        <p:spPr>
          <a:xfrm>
            <a:off x="3570056" y="4615613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UWidget_ActivatableBase</a:t>
            </a:r>
            <a:endParaRPr lang="en-US" altLang="zh-CN" sz="1100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BA8BC76-03FF-D621-61B0-7DF365AAF6F0}"/>
              </a:ext>
            </a:extLst>
          </p:cNvPr>
          <p:cNvCxnSpPr>
            <a:stCxn id="6" idx="3"/>
            <a:endCxn id="12" idx="1"/>
          </p:cNvCxnSpPr>
          <p:nvPr/>
        </p:nvCxnSpPr>
        <p:spPr>
          <a:xfrm flipV="1">
            <a:off x="3277652" y="4813471"/>
            <a:ext cx="29240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流程图: 终止 15">
            <a:extLst>
              <a:ext uri="{FF2B5EF4-FFF2-40B4-BE49-F238E27FC236}">
                <a16:creationId xmlns:a16="http://schemas.microsoft.com/office/drawing/2014/main" id="{9DA86D9F-6410-7DA1-7920-F30D75AA9701}"/>
              </a:ext>
            </a:extLst>
          </p:cNvPr>
          <p:cNvSpPr/>
          <p:nvPr/>
        </p:nvSpPr>
        <p:spPr>
          <a:xfrm>
            <a:off x="5911011" y="1499296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UDeveloperSettings</a:t>
            </a:r>
            <a:endParaRPr lang="en-US" altLang="zh-CN" sz="1100" dirty="0"/>
          </a:p>
        </p:txBody>
      </p:sp>
      <p:sp>
        <p:nvSpPr>
          <p:cNvPr id="17" name="流程图: 终止 16">
            <a:extLst>
              <a:ext uri="{FF2B5EF4-FFF2-40B4-BE49-F238E27FC236}">
                <a16:creationId xmlns:a16="http://schemas.microsoft.com/office/drawing/2014/main" id="{875154C5-8D79-0D28-4E4F-7307990329F4}"/>
              </a:ext>
            </a:extLst>
          </p:cNvPr>
          <p:cNvSpPr/>
          <p:nvPr/>
        </p:nvSpPr>
        <p:spPr>
          <a:xfrm>
            <a:off x="7641015" y="1499295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UFrontendDeveloperSettings</a:t>
            </a:r>
            <a:endParaRPr lang="en-US" altLang="zh-CN" sz="1100" dirty="0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32BC425-E1CE-772F-EDA6-0B8B71924D35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 flipV="1">
            <a:off x="7298377" y="1697153"/>
            <a:ext cx="3426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流程图: 终止 21">
            <a:extLst>
              <a:ext uri="{FF2B5EF4-FFF2-40B4-BE49-F238E27FC236}">
                <a16:creationId xmlns:a16="http://schemas.microsoft.com/office/drawing/2014/main" id="{17F8273F-76F6-00F7-E853-86C2ECA4CA6D}"/>
              </a:ext>
            </a:extLst>
          </p:cNvPr>
          <p:cNvSpPr/>
          <p:nvPr/>
        </p:nvSpPr>
        <p:spPr>
          <a:xfrm>
            <a:off x="5911011" y="2443917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UBlueprintAsyncActionBase</a:t>
            </a:r>
            <a:endParaRPr lang="en-US" altLang="zh-CN" sz="1100" dirty="0"/>
          </a:p>
        </p:txBody>
      </p:sp>
      <p:sp>
        <p:nvSpPr>
          <p:cNvPr id="25" name="流程图: 终止 24">
            <a:extLst>
              <a:ext uri="{FF2B5EF4-FFF2-40B4-BE49-F238E27FC236}">
                <a16:creationId xmlns:a16="http://schemas.microsoft.com/office/drawing/2014/main" id="{663FCB38-83E5-F472-AB98-31247C52577D}"/>
              </a:ext>
            </a:extLst>
          </p:cNvPr>
          <p:cNvSpPr/>
          <p:nvPr/>
        </p:nvSpPr>
        <p:spPr>
          <a:xfrm>
            <a:off x="7641015" y="2443916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UAsyncAction_PushSoftWidget</a:t>
            </a:r>
            <a:endParaRPr lang="en-US" altLang="zh-CN" sz="1100" dirty="0"/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F2DE6FC-C8F4-F22B-05B6-5A0144A994D8}"/>
              </a:ext>
            </a:extLst>
          </p:cNvPr>
          <p:cNvCxnSpPr>
            <a:stCxn id="22" idx="3"/>
            <a:endCxn id="25" idx="1"/>
          </p:cNvCxnSpPr>
          <p:nvPr/>
        </p:nvCxnSpPr>
        <p:spPr>
          <a:xfrm flipV="1">
            <a:off x="7298377" y="2641774"/>
            <a:ext cx="3426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流程图: 终止 26">
            <a:extLst>
              <a:ext uri="{FF2B5EF4-FFF2-40B4-BE49-F238E27FC236}">
                <a16:creationId xmlns:a16="http://schemas.microsoft.com/office/drawing/2014/main" id="{9A4DFDC1-0ED8-21F2-B294-3C5BBE19AB07}"/>
              </a:ext>
            </a:extLst>
          </p:cNvPr>
          <p:cNvSpPr/>
          <p:nvPr/>
        </p:nvSpPr>
        <p:spPr>
          <a:xfrm>
            <a:off x="9280176" y="5294578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FrontendGameplayTags</a:t>
            </a:r>
            <a:endParaRPr lang="en-US" altLang="zh-CN" sz="1100" dirty="0"/>
          </a:p>
        </p:txBody>
      </p:sp>
      <p:sp>
        <p:nvSpPr>
          <p:cNvPr id="28" name="流程图: 终止 27">
            <a:extLst>
              <a:ext uri="{FF2B5EF4-FFF2-40B4-BE49-F238E27FC236}">
                <a16:creationId xmlns:a16="http://schemas.microsoft.com/office/drawing/2014/main" id="{E5BC1793-B6C7-9C6D-E186-9D4659133B60}"/>
              </a:ext>
            </a:extLst>
          </p:cNvPr>
          <p:cNvSpPr/>
          <p:nvPr/>
        </p:nvSpPr>
        <p:spPr>
          <a:xfrm>
            <a:off x="5911011" y="3747179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UBlueprintFunctionLibrary</a:t>
            </a:r>
            <a:endParaRPr lang="en-US" altLang="zh-CN" sz="1100" dirty="0"/>
          </a:p>
        </p:txBody>
      </p:sp>
      <p:sp>
        <p:nvSpPr>
          <p:cNvPr id="29" name="流程图: 终止 28">
            <a:extLst>
              <a:ext uri="{FF2B5EF4-FFF2-40B4-BE49-F238E27FC236}">
                <a16:creationId xmlns:a16="http://schemas.microsoft.com/office/drawing/2014/main" id="{28C173F6-CD5D-C4B4-2350-51A20EB62DC8}"/>
              </a:ext>
            </a:extLst>
          </p:cNvPr>
          <p:cNvSpPr/>
          <p:nvPr/>
        </p:nvSpPr>
        <p:spPr>
          <a:xfrm>
            <a:off x="7641015" y="3747178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UFrontendFunctionLibrary</a:t>
            </a:r>
            <a:endParaRPr lang="en-US" altLang="zh-CN" sz="1100" dirty="0"/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6C6D3226-3F7A-6E79-CD9C-2233E4A82086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 flipV="1">
            <a:off x="7298377" y="3945036"/>
            <a:ext cx="3426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流程图: 终止 30">
            <a:extLst>
              <a:ext uri="{FF2B5EF4-FFF2-40B4-BE49-F238E27FC236}">
                <a16:creationId xmlns:a16="http://schemas.microsoft.com/office/drawing/2014/main" id="{FE63B1E1-0A64-0C7D-A9B9-1BC1257CB37F}"/>
              </a:ext>
            </a:extLst>
          </p:cNvPr>
          <p:cNvSpPr/>
          <p:nvPr/>
        </p:nvSpPr>
        <p:spPr>
          <a:xfrm>
            <a:off x="331601" y="5492437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UUserWidget</a:t>
            </a:r>
            <a:endParaRPr lang="en-US" altLang="zh-CN" sz="1100" dirty="0"/>
          </a:p>
        </p:txBody>
      </p:sp>
      <p:sp>
        <p:nvSpPr>
          <p:cNvPr id="33" name="流程图: 终止 32">
            <a:extLst>
              <a:ext uri="{FF2B5EF4-FFF2-40B4-BE49-F238E27FC236}">
                <a16:creationId xmlns:a16="http://schemas.microsoft.com/office/drawing/2014/main" id="{364DF213-B688-B366-E8BF-B5835F6830D1}"/>
              </a:ext>
            </a:extLst>
          </p:cNvPr>
          <p:cNvSpPr/>
          <p:nvPr/>
        </p:nvSpPr>
        <p:spPr>
          <a:xfrm>
            <a:off x="1890286" y="5492436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/>
              <a:t>WBP_Template_Layout</a:t>
            </a: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8AE866A5-A9DA-76F6-85B1-DAF90121B440}"/>
              </a:ext>
            </a:extLst>
          </p:cNvPr>
          <p:cNvCxnSpPr>
            <a:cxnSpLocks/>
            <a:stCxn id="31" idx="3"/>
            <a:endCxn id="33" idx="1"/>
          </p:cNvCxnSpPr>
          <p:nvPr/>
        </p:nvCxnSpPr>
        <p:spPr>
          <a:xfrm flipV="1">
            <a:off x="1718967" y="5690294"/>
            <a:ext cx="171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D78B20A-57EF-190B-DBB7-02240BFE5009}"/>
              </a:ext>
            </a:extLst>
          </p:cNvPr>
          <p:cNvSpPr/>
          <p:nvPr/>
        </p:nvSpPr>
        <p:spPr>
          <a:xfrm>
            <a:off x="3570056" y="3580160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WBP_CUW_PrimaryLayout</a:t>
            </a:r>
            <a:endParaRPr lang="en-US" altLang="zh-CN" sz="1100" dirty="0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7384DB1-CA37-E17A-B5D2-7FA4BFC58494}"/>
              </a:ext>
            </a:extLst>
          </p:cNvPr>
          <p:cNvCxnSpPr>
            <a:stCxn id="4" idx="3"/>
            <a:endCxn id="38" idx="1"/>
          </p:cNvCxnSpPr>
          <p:nvPr/>
        </p:nvCxnSpPr>
        <p:spPr>
          <a:xfrm flipV="1">
            <a:off x="3277652" y="3778018"/>
            <a:ext cx="292404" cy="6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B9F9F1C4-29DF-7ADB-40A7-D0EC621F8B02}"/>
              </a:ext>
            </a:extLst>
          </p:cNvPr>
          <p:cNvSpPr/>
          <p:nvPr/>
        </p:nvSpPr>
        <p:spPr>
          <a:xfrm>
            <a:off x="5217327" y="4615613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WBP_CAW_PressAnyKey</a:t>
            </a:r>
            <a:endParaRPr lang="en-US" altLang="zh-CN" sz="1100" dirty="0"/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15FE6936-6F44-334F-BA7C-403A0B9FA043}"/>
              </a:ext>
            </a:extLst>
          </p:cNvPr>
          <p:cNvCxnSpPr>
            <a:stCxn id="12" idx="3"/>
            <a:endCxn id="41" idx="1"/>
          </p:cNvCxnSpPr>
          <p:nvPr/>
        </p:nvCxnSpPr>
        <p:spPr>
          <a:xfrm>
            <a:off x="4957423" y="4813471"/>
            <a:ext cx="2599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78901F7-52E7-58E8-28E5-CD87096DAA1B}"/>
              </a:ext>
            </a:extLst>
          </p:cNvPr>
          <p:cNvSpPr/>
          <p:nvPr/>
        </p:nvSpPr>
        <p:spPr>
          <a:xfrm>
            <a:off x="5217327" y="5294578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UWidget_ConfirmScreen</a:t>
            </a:r>
            <a:endParaRPr lang="en-US" altLang="zh-CN" sz="1100" dirty="0"/>
          </a:p>
        </p:txBody>
      </p: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B6276E56-5925-A044-04D7-B120D0C3C1C0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957423" y="4813471"/>
            <a:ext cx="259904" cy="6789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流程图: 终止 38">
            <a:extLst>
              <a:ext uri="{FF2B5EF4-FFF2-40B4-BE49-F238E27FC236}">
                <a16:creationId xmlns:a16="http://schemas.microsoft.com/office/drawing/2014/main" id="{B68564FF-CE33-DF96-53AB-9DB29FFC8DA3}"/>
              </a:ext>
            </a:extLst>
          </p:cNvPr>
          <p:cNvSpPr/>
          <p:nvPr/>
        </p:nvSpPr>
        <p:spPr>
          <a:xfrm>
            <a:off x="7641015" y="3095265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UAsyncAction_PushConfirmScreen</a:t>
            </a:r>
            <a:endParaRPr lang="en-US" altLang="zh-CN" sz="1100" dirty="0"/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6B1401C4-DC4F-FD9D-34C9-7D3FB320EB46}"/>
              </a:ext>
            </a:extLst>
          </p:cNvPr>
          <p:cNvCxnSpPr>
            <a:cxnSpLocks/>
            <a:stCxn id="22" idx="3"/>
            <a:endCxn id="39" idx="1"/>
          </p:cNvCxnSpPr>
          <p:nvPr/>
        </p:nvCxnSpPr>
        <p:spPr>
          <a:xfrm>
            <a:off x="7298377" y="2641775"/>
            <a:ext cx="342638" cy="6513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6ACF4AD-00EF-AA1C-0919-90C1CDB44C10}"/>
              </a:ext>
            </a:extLst>
          </p:cNvPr>
          <p:cNvSpPr/>
          <p:nvPr/>
        </p:nvSpPr>
        <p:spPr>
          <a:xfrm>
            <a:off x="6864598" y="5294577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WBP_CAW_ConfirmScreen</a:t>
            </a:r>
            <a:endParaRPr lang="en-US" altLang="zh-CN" sz="1100" dirty="0"/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698327CA-95A1-546D-356C-994885B8B9BE}"/>
              </a:ext>
            </a:extLst>
          </p:cNvPr>
          <p:cNvCxnSpPr>
            <a:cxnSpLocks/>
            <a:stCxn id="13" idx="3"/>
            <a:endCxn id="7" idx="1"/>
          </p:cNvCxnSpPr>
          <p:nvPr/>
        </p:nvCxnSpPr>
        <p:spPr>
          <a:xfrm flipV="1">
            <a:off x="6604694" y="5492435"/>
            <a:ext cx="25990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DE68F501-160D-43C8-36A6-17B69086338A}"/>
              </a:ext>
            </a:extLst>
          </p:cNvPr>
          <p:cNvSpPr/>
          <p:nvPr/>
        </p:nvSpPr>
        <p:spPr>
          <a:xfrm>
            <a:off x="5217326" y="5984861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UWidget_ConfirmScreen</a:t>
            </a:r>
            <a:endParaRPr lang="en-US" altLang="zh-CN" sz="1100" dirty="0"/>
          </a:p>
        </p:txBody>
      </p: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480FDF1D-9B24-5DD6-8E85-5A0635472450}"/>
              </a:ext>
            </a:extLst>
          </p:cNvPr>
          <p:cNvCxnSpPr>
            <a:cxnSpLocks/>
            <a:stCxn id="12" idx="3"/>
            <a:endCxn id="45" idx="1"/>
          </p:cNvCxnSpPr>
          <p:nvPr/>
        </p:nvCxnSpPr>
        <p:spPr>
          <a:xfrm>
            <a:off x="4957423" y="4813471"/>
            <a:ext cx="259903" cy="136924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30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C1F37-BF00-8B63-2D80-BF1630069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C17C1F-42D2-BFF9-0778-788DBAD21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533869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类的设计二</a:t>
            </a:r>
          </a:p>
        </p:txBody>
      </p:sp>
      <p:sp>
        <p:nvSpPr>
          <p:cNvPr id="21" name="流程图: 终止 20">
            <a:extLst>
              <a:ext uri="{FF2B5EF4-FFF2-40B4-BE49-F238E27FC236}">
                <a16:creationId xmlns:a16="http://schemas.microsoft.com/office/drawing/2014/main" id="{65A92E21-4B35-9606-0C8B-28B64239BDC1}"/>
              </a:ext>
            </a:extLst>
          </p:cNvPr>
          <p:cNvSpPr/>
          <p:nvPr/>
        </p:nvSpPr>
        <p:spPr>
          <a:xfrm>
            <a:off x="331601" y="2641776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UObject</a:t>
            </a:r>
            <a:endParaRPr lang="en-US" altLang="zh-CN" sz="1100" dirty="0"/>
          </a:p>
        </p:txBody>
      </p:sp>
      <p:sp>
        <p:nvSpPr>
          <p:cNvPr id="23" name="流程图: 终止 22">
            <a:extLst>
              <a:ext uri="{FF2B5EF4-FFF2-40B4-BE49-F238E27FC236}">
                <a16:creationId xmlns:a16="http://schemas.microsoft.com/office/drawing/2014/main" id="{28A49931-761B-308D-29F1-041ACF970D36}"/>
              </a:ext>
            </a:extLst>
          </p:cNvPr>
          <p:cNvSpPr/>
          <p:nvPr/>
        </p:nvSpPr>
        <p:spPr>
          <a:xfrm>
            <a:off x="1890286" y="2641775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UConfirmScreenInfoObject</a:t>
            </a:r>
            <a:endParaRPr lang="en-US" altLang="zh-CN" sz="1100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25644536-4B29-2179-1F6E-BFA5665FDD47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 flipV="1">
            <a:off x="1718967" y="2839633"/>
            <a:ext cx="171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流程图: 终止 15">
            <a:extLst>
              <a:ext uri="{FF2B5EF4-FFF2-40B4-BE49-F238E27FC236}">
                <a16:creationId xmlns:a16="http://schemas.microsoft.com/office/drawing/2014/main" id="{9BADC895-9A55-86E7-1F74-2A1EDA7B85EC}"/>
              </a:ext>
            </a:extLst>
          </p:cNvPr>
          <p:cNvSpPr/>
          <p:nvPr/>
        </p:nvSpPr>
        <p:spPr>
          <a:xfrm>
            <a:off x="5911011" y="1499296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UCommonButtonBase</a:t>
            </a:r>
            <a:endParaRPr lang="en-US" altLang="zh-CN" sz="1100" dirty="0"/>
          </a:p>
        </p:txBody>
      </p:sp>
      <p:sp>
        <p:nvSpPr>
          <p:cNvPr id="17" name="流程图: 终止 16">
            <a:extLst>
              <a:ext uri="{FF2B5EF4-FFF2-40B4-BE49-F238E27FC236}">
                <a16:creationId xmlns:a16="http://schemas.microsoft.com/office/drawing/2014/main" id="{D56C3944-D882-1089-1AE6-25902AF6523E}"/>
              </a:ext>
            </a:extLst>
          </p:cNvPr>
          <p:cNvSpPr/>
          <p:nvPr/>
        </p:nvSpPr>
        <p:spPr>
          <a:xfrm>
            <a:off x="7641015" y="1499295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UFrontendCommonButtonBase</a:t>
            </a:r>
            <a:endParaRPr lang="en-US" altLang="zh-CN" sz="1100" dirty="0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79D062AF-5321-21B1-97CA-2DFE4330C007}"/>
              </a:ext>
            </a:extLst>
          </p:cNvPr>
          <p:cNvCxnSpPr>
            <a:cxnSpLocks/>
          </p:cNvCxnSpPr>
          <p:nvPr/>
        </p:nvCxnSpPr>
        <p:spPr>
          <a:xfrm flipV="1">
            <a:off x="7298377" y="1697151"/>
            <a:ext cx="3426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流程图: 终止 26">
            <a:extLst>
              <a:ext uri="{FF2B5EF4-FFF2-40B4-BE49-F238E27FC236}">
                <a16:creationId xmlns:a16="http://schemas.microsoft.com/office/drawing/2014/main" id="{554C2A1A-6E9F-CB84-F1CC-F31C2DADDC5E}"/>
              </a:ext>
            </a:extLst>
          </p:cNvPr>
          <p:cNvSpPr/>
          <p:nvPr/>
        </p:nvSpPr>
        <p:spPr>
          <a:xfrm>
            <a:off x="5960106" y="3429000"/>
            <a:ext cx="1387366" cy="395715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UCommonUIInputData</a:t>
            </a:r>
            <a:endParaRPr lang="en-US" altLang="zh-CN" sz="1100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29A0505-9E23-1218-9276-BB51F68F0D40}"/>
              </a:ext>
            </a:extLst>
          </p:cNvPr>
          <p:cNvSpPr/>
          <p:nvPr/>
        </p:nvSpPr>
        <p:spPr>
          <a:xfrm>
            <a:off x="9371019" y="1499294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WBP_Button_Default</a:t>
            </a:r>
            <a:endParaRPr lang="en-US" altLang="zh-CN" sz="1100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868F716-383A-A2FE-302B-822D858B9D33}"/>
              </a:ext>
            </a:extLst>
          </p:cNvPr>
          <p:cNvCxnSpPr>
            <a:cxnSpLocks/>
          </p:cNvCxnSpPr>
          <p:nvPr/>
        </p:nvCxnSpPr>
        <p:spPr>
          <a:xfrm flipV="1">
            <a:off x="9028381" y="1697150"/>
            <a:ext cx="3426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DBF58CFA-6047-9BB8-CF03-7B30E7BF5EB1}"/>
              </a:ext>
            </a:extLst>
          </p:cNvPr>
          <p:cNvSpPr/>
          <p:nvPr/>
        </p:nvSpPr>
        <p:spPr>
          <a:xfrm>
            <a:off x="7641015" y="2510399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UCommonBoundActionButton</a:t>
            </a:r>
            <a:endParaRPr lang="en-US" altLang="zh-CN" sz="1100" dirty="0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45711C26-7C87-9AAC-09C7-9DA0A3E6F740}"/>
              </a:ext>
            </a:extLst>
          </p:cNvPr>
          <p:cNvCxnSpPr>
            <a:cxnSpLocks/>
          </p:cNvCxnSpPr>
          <p:nvPr/>
        </p:nvCxnSpPr>
        <p:spPr>
          <a:xfrm>
            <a:off x="7469695" y="1697150"/>
            <a:ext cx="171319" cy="102922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60875E7-28CA-EB60-DD32-455B4C2BDFE4}"/>
              </a:ext>
            </a:extLst>
          </p:cNvPr>
          <p:cNvSpPr/>
          <p:nvPr/>
        </p:nvSpPr>
        <p:spPr>
          <a:xfrm>
            <a:off x="9371018" y="2528513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WBP_Button_BoundAction</a:t>
            </a:r>
            <a:endParaRPr lang="en-US" altLang="zh-CN" sz="1100" dirty="0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DD321C2-DE0F-A020-68D8-599C32C4BABE}"/>
              </a:ext>
            </a:extLst>
          </p:cNvPr>
          <p:cNvCxnSpPr>
            <a:cxnSpLocks/>
          </p:cNvCxnSpPr>
          <p:nvPr/>
        </p:nvCxnSpPr>
        <p:spPr>
          <a:xfrm flipV="1">
            <a:off x="9028380" y="2708255"/>
            <a:ext cx="3426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流程图: 终止 21">
            <a:extLst>
              <a:ext uri="{FF2B5EF4-FFF2-40B4-BE49-F238E27FC236}">
                <a16:creationId xmlns:a16="http://schemas.microsoft.com/office/drawing/2014/main" id="{61BD8FAE-CA67-23CB-31F4-E7CFFB1C4C62}"/>
              </a:ext>
            </a:extLst>
          </p:cNvPr>
          <p:cNvSpPr/>
          <p:nvPr/>
        </p:nvSpPr>
        <p:spPr>
          <a:xfrm>
            <a:off x="7518791" y="3428999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/>
              <a:t>InputData_Default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F288BA0-6FDB-C967-A7C2-BB659CF68938}"/>
              </a:ext>
            </a:extLst>
          </p:cNvPr>
          <p:cNvCxnSpPr>
            <a:cxnSpLocks/>
          </p:cNvCxnSpPr>
          <p:nvPr/>
        </p:nvCxnSpPr>
        <p:spPr>
          <a:xfrm flipV="1">
            <a:off x="7311723" y="3626856"/>
            <a:ext cx="171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流程图: 终止 25">
            <a:extLst>
              <a:ext uri="{FF2B5EF4-FFF2-40B4-BE49-F238E27FC236}">
                <a16:creationId xmlns:a16="http://schemas.microsoft.com/office/drawing/2014/main" id="{0918187C-3594-76FF-7C40-E315EA12EB25}"/>
              </a:ext>
            </a:extLst>
          </p:cNvPr>
          <p:cNvSpPr/>
          <p:nvPr/>
        </p:nvSpPr>
        <p:spPr>
          <a:xfrm>
            <a:off x="5917962" y="4298861"/>
            <a:ext cx="1436461" cy="473411"/>
          </a:xfrm>
          <a:prstGeom prst="flowChartTermina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100" dirty="0" err="1"/>
              <a:t>UCommonInputBaseControllerData</a:t>
            </a:r>
            <a:endParaRPr lang="en-US" altLang="zh-CN" sz="1100" dirty="0"/>
          </a:p>
        </p:txBody>
      </p:sp>
      <p:sp>
        <p:nvSpPr>
          <p:cNvPr id="28" name="流程图: 终止 27">
            <a:extLst>
              <a:ext uri="{FF2B5EF4-FFF2-40B4-BE49-F238E27FC236}">
                <a16:creationId xmlns:a16="http://schemas.microsoft.com/office/drawing/2014/main" id="{7D4478FD-068E-08EA-AFD4-2A585F71FCEB}"/>
              </a:ext>
            </a:extLst>
          </p:cNvPr>
          <p:cNvSpPr/>
          <p:nvPr/>
        </p:nvSpPr>
        <p:spPr>
          <a:xfrm>
            <a:off x="7518791" y="4298861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ControllerData_MouseKeyboard</a:t>
            </a:r>
            <a:endParaRPr lang="en-US" altLang="zh-CN" sz="1100" dirty="0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A2505156-546E-3A3C-EA5F-F0CD6CFAE9E9}"/>
              </a:ext>
            </a:extLst>
          </p:cNvPr>
          <p:cNvCxnSpPr>
            <a:cxnSpLocks/>
          </p:cNvCxnSpPr>
          <p:nvPr/>
        </p:nvCxnSpPr>
        <p:spPr>
          <a:xfrm flipV="1">
            <a:off x="7354423" y="4517184"/>
            <a:ext cx="171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流程图: 终止 29">
            <a:extLst>
              <a:ext uri="{FF2B5EF4-FFF2-40B4-BE49-F238E27FC236}">
                <a16:creationId xmlns:a16="http://schemas.microsoft.com/office/drawing/2014/main" id="{4314755E-8335-8808-F6D9-8C1AFD746CB7}"/>
              </a:ext>
            </a:extLst>
          </p:cNvPr>
          <p:cNvSpPr/>
          <p:nvPr/>
        </p:nvSpPr>
        <p:spPr>
          <a:xfrm>
            <a:off x="7518791" y="5368858"/>
            <a:ext cx="1387366" cy="395715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100" dirty="0" err="1"/>
              <a:t>ControllerData_Gamepadboard</a:t>
            </a:r>
            <a:endParaRPr lang="en-US" altLang="zh-CN" sz="1100" dirty="0"/>
          </a:p>
        </p:txBody>
      </p: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FDEE70B-0653-76FD-767C-51A64AD78BA7}"/>
              </a:ext>
            </a:extLst>
          </p:cNvPr>
          <p:cNvCxnSpPr>
            <a:cxnSpLocks/>
          </p:cNvCxnSpPr>
          <p:nvPr/>
        </p:nvCxnSpPr>
        <p:spPr>
          <a:xfrm>
            <a:off x="7354423" y="4527340"/>
            <a:ext cx="171319" cy="102922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1FFEDD7-CE5E-9C4F-9FEA-068B7C661586}"/>
              </a:ext>
            </a:extLst>
          </p:cNvPr>
          <p:cNvSpPr/>
          <p:nvPr/>
        </p:nvSpPr>
        <p:spPr>
          <a:xfrm>
            <a:off x="9371017" y="598027"/>
            <a:ext cx="1387367" cy="395715"/>
          </a:xfrm>
          <a:prstGeom prst="roundRect">
            <a:avLst>
              <a:gd name="adj" fmla="val 1597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err="1"/>
              <a:t>WBP_Button_ConfirmScreen</a:t>
            </a:r>
            <a:endParaRPr lang="en-US" altLang="zh-CN" sz="1100" dirty="0"/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8B8BD06C-9510-FEAE-657D-914B5C71BD49}"/>
              </a:ext>
            </a:extLst>
          </p:cNvPr>
          <p:cNvCxnSpPr>
            <a:cxnSpLocks/>
            <a:stCxn id="17" idx="3"/>
            <a:endCxn id="41" idx="1"/>
          </p:cNvCxnSpPr>
          <p:nvPr/>
        </p:nvCxnSpPr>
        <p:spPr>
          <a:xfrm flipV="1">
            <a:off x="9028381" y="795885"/>
            <a:ext cx="342636" cy="9012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253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8A483C-D269-3B0F-739A-C18ACF333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3576" y="3032773"/>
            <a:ext cx="7724847" cy="792454"/>
          </a:xfrm>
        </p:spPr>
        <p:txBody>
          <a:bodyPr>
            <a:normAutofit/>
          </a:bodyPr>
          <a:lstStyle/>
          <a:p>
            <a:r>
              <a:rPr lang="zh-CN" altLang="en-US" sz="4000" dirty="0"/>
              <a:t>第一部分</a:t>
            </a:r>
            <a:r>
              <a:rPr lang="en-US" altLang="zh-CN" sz="4000" dirty="0"/>
              <a:t>:</a:t>
            </a:r>
            <a:r>
              <a:rPr lang="zh-CN" altLang="en-US" sz="4000" dirty="0"/>
              <a:t>设置好</a:t>
            </a:r>
            <a:r>
              <a:rPr lang="en-US" altLang="zh-CN" sz="4000" dirty="0" err="1"/>
              <a:t>CommonUI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904766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5F41A-8247-C726-C26F-CF8C9DDE3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567290-D9A3-064D-A955-2BC912D194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68395" y="86027"/>
            <a:ext cx="7724847" cy="792454"/>
          </a:xfrm>
        </p:spPr>
        <p:txBody>
          <a:bodyPr>
            <a:normAutofit/>
          </a:bodyPr>
          <a:lstStyle/>
          <a:p>
            <a:r>
              <a:rPr lang="zh-CN" altLang="en-US" sz="4000" dirty="0"/>
              <a:t>第一部分</a:t>
            </a:r>
            <a:r>
              <a:rPr lang="en-US" altLang="zh-CN" sz="4000" dirty="0"/>
              <a:t>:</a:t>
            </a:r>
            <a:r>
              <a:rPr lang="zh-CN" altLang="en-US" sz="4000" dirty="0"/>
              <a:t>设置好</a:t>
            </a:r>
            <a:r>
              <a:rPr lang="en-US" altLang="zh-CN" sz="4000" dirty="0" err="1"/>
              <a:t>CommonUI</a:t>
            </a:r>
            <a:endParaRPr lang="zh-CN" altLang="en-US" sz="4000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715179-F55E-D2A2-5A71-58BD6EAA00CD}"/>
              </a:ext>
            </a:extLst>
          </p:cNvPr>
          <p:cNvSpPr/>
          <p:nvPr/>
        </p:nvSpPr>
        <p:spPr>
          <a:xfrm>
            <a:off x="364384" y="2041930"/>
            <a:ext cx="2536945" cy="11275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Frontend Player Controller</a:t>
            </a:r>
            <a:br>
              <a:rPr lang="en-US" altLang="zh-CN" b="1" dirty="0"/>
            </a:br>
            <a:r>
              <a:rPr lang="zh-CN" altLang="en-US" b="1" dirty="0"/>
              <a:t>（前端玩家控制器）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b="1" dirty="0"/>
              <a:t>设置摄像机视角​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374EEE4-2061-CB6C-7041-01C30458AC4E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632856" y="3169461"/>
            <a:ext cx="1" cy="8525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4CC774B7-684A-A947-A985-C25FB7D70EDE}"/>
              </a:ext>
            </a:extLst>
          </p:cNvPr>
          <p:cNvSpPr/>
          <p:nvPr/>
        </p:nvSpPr>
        <p:spPr>
          <a:xfrm>
            <a:off x="364384" y="4021984"/>
            <a:ext cx="2536945" cy="112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Primary Layout Widget</a:t>
            </a:r>
            <a:br>
              <a:rPr lang="en-US" altLang="zh-CN" b="1" dirty="0"/>
            </a:br>
            <a:r>
              <a:rPr lang="zh-CN" altLang="en-US" b="1" dirty="0"/>
              <a:t>（主布局控件）​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b="1" dirty="0"/>
              <a:t>注册界面栈</a:t>
            </a:r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FBCA16-1DF0-0BD0-D0A9-742761492740}"/>
              </a:ext>
            </a:extLst>
          </p:cNvPr>
          <p:cNvSpPr/>
          <p:nvPr/>
        </p:nvSpPr>
        <p:spPr>
          <a:xfrm>
            <a:off x="3324153" y="3708303"/>
            <a:ext cx="2536945" cy="17514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Frontend UI Subsystem</a:t>
            </a:r>
            <a:br>
              <a:rPr lang="en-US" altLang="zh-CN" b="1" dirty="0"/>
            </a:br>
            <a:r>
              <a:rPr lang="zh-CN" altLang="en-US" b="1" dirty="0"/>
              <a:t>（前端</a:t>
            </a:r>
            <a:r>
              <a:rPr lang="en-US" altLang="zh-CN" b="1" dirty="0"/>
              <a:t>UI</a:t>
            </a:r>
            <a:r>
              <a:rPr lang="zh-CN" altLang="en-US" b="1" dirty="0"/>
              <a:t>子系统）​​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b="1" dirty="0"/>
              <a:t>存储主布局引用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dirty="0"/>
              <a:t>给</a:t>
            </a:r>
            <a:r>
              <a:rPr lang="en-US" altLang="zh-CN" dirty="0" err="1"/>
              <a:t>PushingWidgets</a:t>
            </a:r>
            <a:r>
              <a:rPr lang="zh-CN" altLang="en-US" dirty="0"/>
              <a:t>提供方法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9A8DF4D-780D-9FB3-4AEA-B56BE6877E71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01329" y="4584031"/>
            <a:ext cx="42282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D7DF74F-4968-9F8B-EA04-F2548F68F90D}"/>
              </a:ext>
            </a:extLst>
          </p:cNvPr>
          <p:cNvSpPr/>
          <p:nvPr/>
        </p:nvSpPr>
        <p:spPr>
          <a:xfrm>
            <a:off x="6330904" y="4021984"/>
            <a:ext cx="2536945" cy="112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/>
              <a:t>BP_FrontendController</a:t>
            </a:r>
            <a:br>
              <a:rPr lang="en-US" altLang="zh-CN" b="1" dirty="0"/>
            </a:br>
            <a:r>
              <a:rPr lang="zh-CN" altLang="en-US" b="1" dirty="0"/>
              <a:t>（前端玩家控制器）​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b="1" dirty="0"/>
              <a:t>推入第一个界面</a:t>
            </a:r>
            <a:endParaRPr lang="zh-CN" altLang="en-US" dirty="0"/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0885CEC-9A60-2A8F-A7C3-4A1D1756A883}"/>
              </a:ext>
            </a:extLst>
          </p:cNvPr>
          <p:cNvCxnSpPr>
            <a:stCxn id="9" idx="3"/>
            <a:endCxn id="16" idx="1"/>
          </p:cNvCxnSpPr>
          <p:nvPr/>
        </p:nvCxnSpPr>
        <p:spPr>
          <a:xfrm>
            <a:off x="5861098" y="4584031"/>
            <a:ext cx="46980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CF7D2D26-9DA6-4142-6F52-2F77F49F757E}"/>
              </a:ext>
            </a:extLst>
          </p:cNvPr>
          <p:cNvSpPr/>
          <p:nvPr/>
        </p:nvSpPr>
        <p:spPr>
          <a:xfrm>
            <a:off x="9413311" y="4021984"/>
            <a:ext cx="2678482" cy="112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WBP_CAW_PressAnyKey</a:t>
            </a:r>
            <a:endParaRPr lang="en-US" altLang="zh-CN" dirty="0"/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0B98FFD5-C7DB-914E-4F9D-A6060A3EAAB8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>
            <a:off x="8867849" y="4584032"/>
            <a:ext cx="545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13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E64E8-DCD0-96F4-8950-DE052894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DAFFD4-ECF8-286B-E940-729E3652E8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84ED6F8B-696A-25A9-D808-60D0A93E9FFD}"/>
              </a:ext>
            </a:extLst>
          </p:cNvPr>
          <p:cNvSpPr txBox="1">
            <a:spLocks/>
          </p:cNvSpPr>
          <p:nvPr/>
        </p:nvSpPr>
        <p:spPr>
          <a:xfrm>
            <a:off x="594986" y="8079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/>
              <a:t>• </a:t>
            </a:r>
            <a:r>
              <a:rPr lang="en-US" altLang="zh-CN" sz="2000" b="1" dirty="0" err="1"/>
              <a:t>AFrontendPlayerController</a:t>
            </a:r>
            <a:endParaRPr lang="zh-CN" altLang="en-US" sz="20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8D650A8-988F-7F5E-384C-F011C851854F}"/>
              </a:ext>
            </a:extLst>
          </p:cNvPr>
          <p:cNvSpPr txBox="1"/>
          <p:nvPr/>
        </p:nvSpPr>
        <p:spPr>
          <a:xfrm>
            <a:off x="745298" y="1156012"/>
            <a:ext cx="69519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OnPossess</a:t>
            </a:r>
            <a:r>
              <a:rPr lang="zh-CN" altLang="en-US" sz="1400" dirty="0"/>
              <a:t>函数下用</a:t>
            </a:r>
            <a:r>
              <a:rPr lang="en-US" altLang="zh-CN" sz="1400" dirty="0" err="1"/>
              <a:t>UGameplayStatics</a:t>
            </a:r>
            <a:r>
              <a:rPr lang="en-US" altLang="zh-CN" sz="1400" dirty="0"/>
              <a:t>::</a:t>
            </a:r>
            <a:r>
              <a:rPr lang="en-US" altLang="zh-CN" sz="1400" dirty="0" err="1"/>
              <a:t>GetAllActorsOfClassWithTag</a:t>
            </a:r>
            <a:r>
              <a:rPr lang="zh-CN" altLang="en-US" sz="1400" dirty="0"/>
              <a:t>函数寻找</a:t>
            </a:r>
            <a:r>
              <a:rPr lang="zh-CN" altLang="en-US" sz="1400" i="1" dirty="0"/>
              <a:t>在游戏世界中查找所有具有特定标签（</a:t>
            </a:r>
            <a:r>
              <a:rPr lang="en-US" altLang="zh-CN" sz="1400" i="1" dirty="0"/>
              <a:t>“Default”</a:t>
            </a:r>
            <a:r>
              <a:rPr lang="zh-CN" altLang="en-US" sz="1400" i="1" dirty="0"/>
              <a:t>）的</a:t>
            </a:r>
            <a:r>
              <a:rPr lang="en-US" altLang="zh-CN" sz="1400" i="1" dirty="0" err="1"/>
              <a:t>ACameraActor</a:t>
            </a:r>
            <a:r>
              <a:rPr lang="zh-CN" altLang="en-US" sz="1400" i="1" dirty="0"/>
              <a:t>类实例，再将玩家的视角切换至找到的第一个标记为</a:t>
            </a:r>
            <a:r>
              <a:rPr lang="en-US" altLang="zh-CN" sz="1400" i="1" dirty="0"/>
              <a:t>"Default"</a:t>
            </a:r>
            <a:r>
              <a:rPr lang="zh-CN" altLang="en-US" sz="1400" i="1" dirty="0"/>
              <a:t>的摄像机</a:t>
            </a:r>
            <a:endParaRPr lang="zh-CN" altLang="en-US" sz="1400" dirty="0"/>
          </a:p>
        </p:txBody>
      </p:sp>
      <p:sp>
        <p:nvSpPr>
          <p:cNvPr id="19" name="标题 1">
            <a:extLst>
              <a:ext uri="{FF2B5EF4-FFF2-40B4-BE49-F238E27FC236}">
                <a16:creationId xmlns:a16="http://schemas.microsoft.com/office/drawing/2014/main" id="{5623AFA3-BAE8-3D90-D19C-9D19DD74671C}"/>
              </a:ext>
            </a:extLst>
          </p:cNvPr>
          <p:cNvSpPr txBox="1">
            <a:spLocks/>
          </p:cNvSpPr>
          <p:nvPr/>
        </p:nvSpPr>
        <p:spPr>
          <a:xfrm>
            <a:off x="745298" y="2017085"/>
            <a:ext cx="3100192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dirty="0"/>
              <a:t>• </a:t>
            </a:r>
            <a:r>
              <a:rPr lang="en-US" altLang="zh-CN" sz="2000" b="1" dirty="0" err="1"/>
              <a:t>UWidget_PrimaryLayout</a:t>
            </a:r>
            <a:endParaRPr lang="en-US" altLang="zh-CN" sz="2000" b="1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14BDA14-16A0-0225-6643-A9866A05D3DB}"/>
              </a:ext>
            </a:extLst>
          </p:cNvPr>
          <p:cNvSpPr txBox="1"/>
          <p:nvPr/>
        </p:nvSpPr>
        <p:spPr>
          <a:xfrm>
            <a:off x="745298" y="2410702"/>
            <a:ext cx="69519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提供</a:t>
            </a:r>
            <a:r>
              <a:rPr lang="en-US" altLang="zh-CN" sz="1400" dirty="0" err="1"/>
              <a:t>FindWidgetStackByTag</a:t>
            </a:r>
            <a:r>
              <a:rPr lang="zh-CN" altLang="en-US" sz="1400" dirty="0"/>
              <a:t>函数</a:t>
            </a:r>
            <a:r>
              <a:rPr lang="zh-CN" altLang="en-US" sz="1400" i="1" dirty="0"/>
              <a:t>根据给定的游戏标签查找并返回对应的可激活控件堆栈。</a:t>
            </a:r>
            <a:endParaRPr lang="zh-CN" altLang="en-US" sz="1400" dirty="0"/>
          </a:p>
          <a:p>
            <a:r>
              <a:rPr lang="zh-CN" altLang="en-US" sz="1400" i="1" dirty="0"/>
              <a:t>此函数用于在运行时快速定位特定的界面堆栈（如设置菜单、库存界面等），以便进行导航或状态管理。</a:t>
            </a:r>
            <a:endParaRPr lang="zh-CN" altLang="en-US" sz="1400" dirty="0"/>
          </a:p>
          <a:p>
            <a:endParaRPr lang="en-US" altLang="zh-CN" sz="1400" dirty="0"/>
          </a:p>
          <a:p>
            <a:r>
              <a:rPr lang="zh-CN" altLang="en-US" sz="1400" dirty="0"/>
              <a:t>提供</a:t>
            </a:r>
            <a:r>
              <a:rPr lang="en-US" altLang="zh-CN" sz="1400" dirty="0" err="1"/>
              <a:t>RegisterWidgetStack</a:t>
            </a:r>
            <a:r>
              <a:rPr lang="zh-CN" altLang="en-US" sz="1400" dirty="0"/>
              <a:t>函数</a:t>
            </a:r>
            <a:r>
              <a:rPr lang="zh-CN" altLang="en-US" sz="1400" i="1" dirty="0"/>
              <a:t>将一个新的可激活控件堆栈注册到管理器中，并将其与特定标签关联。</a:t>
            </a:r>
            <a:endParaRPr lang="zh-CN" altLang="en-US" sz="1400" dirty="0"/>
          </a:p>
          <a:p>
            <a:r>
              <a:rPr lang="zh-CN" altLang="en-US" sz="1400" i="1" dirty="0"/>
              <a:t>此函数通常在界面初始化时调用，用于建立标签与控件堆栈的映射关系，支持后续的动态导航。在子类蓝图类会调用</a:t>
            </a:r>
          </a:p>
        </p:txBody>
      </p:sp>
      <p:sp>
        <p:nvSpPr>
          <p:cNvPr id="37" name="标题 1">
            <a:extLst>
              <a:ext uri="{FF2B5EF4-FFF2-40B4-BE49-F238E27FC236}">
                <a16:creationId xmlns:a16="http://schemas.microsoft.com/office/drawing/2014/main" id="{0B05F208-315E-6847-F56A-D745DF20E93A}"/>
              </a:ext>
            </a:extLst>
          </p:cNvPr>
          <p:cNvSpPr txBox="1">
            <a:spLocks/>
          </p:cNvSpPr>
          <p:nvPr/>
        </p:nvSpPr>
        <p:spPr>
          <a:xfrm>
            <a:off x="594986" y="4252400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UFrontendUISubsystem</a:t>
            </a:r>
            <a:endParaRPr lang="en-US" altLang="zh-CN" sz="20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D850621-2ACF-1A12-F705-369A7BE5D8AB}"/>
              </a:ext>
            </a:extLst>
          </p:cNvPr>
          <p:cNvSpPr txBox="1"/>
          <p:nvPr/>
        </p:nvSpPr>
        <p:spPr>
          <a:xfrm>
            <a:off x="745298" y="4742610"/>
            <a:ext cx="69519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作为</a:t>
            </a:r>
            <a:r>
              <a:rPr lang="en-US" altLang="zh-CN" sz="1400" dirty="0" err="1"/>
              <a:t>UGameInstanceSubsystem</a:t>
            </a:r>
            <a:r>
              <a:rPr lang="zh-CN" altLang="en-US" sz="1400" dirty="0"/>
              <a:t>的派生类，该子系统生命周期与游戏实例相同，提供了全局可访问的</a:t>
            </a:r>
            <a:r>
              <a:rPr lang="en-US" altLang="zh-CN" sz="1400" dirty="0"/>
              <a:t>UI</a:t>
            </a:r>
            <a:r>
              <a:rPr lang="zh-CN" altLang="en-US" sz="1400" dirty="0"/>
              <a:t>管理功能。</a:t>
            </a:r>
            <a:endParaRPr lang="en-US" altLang="zh-CN" sz="1400" dirty="0"/>
          </a:p>
          <a:p>
            <a:r>
              <a:rPr lang="en-US" altLang="zh-CN" sz="1400" dirty="0"/>
              <a:t>Get</a:t>
            </a:r>
            <a:r>
              <a:rPr lang="zh-CN" altLang="en-US" sz="1400" dirty="0"/>
              <a:t>函数</a:t>
            </a:r>
            <a:r>
              <a:rPr lang="zh-CN" altLang="en-US" sz="1400" i="1" dirty="0"/>
              <a:t>前端</a:t>
            </a:r>
            <a:r>
              <a:rPr lang="en-US" altLang="zh-CN" sz="1400" i="1" dirty="0"/>
              <a:t>UI</a:t>
            </a:r>
            <a:r>
              <a:rPr lang="zh-CN" altLang="en-US" sz="1400" i="1" dirty="0"/>
              <a:t>子系统的全局实例，便于在游戏任何地方访问。</a:t>
            </a:r>
            <a:endParaRPr lang="en-US" altLang="zh-CN" sz="1400" dirty="0"/>
          </a:p>
          <a:p>
            <a:r>
              <a:rPr lang="en-US" altLang="zh-CN" sz="1400" dirty="0" err="1"/>
              <a:t>ShouldCreateSubsystem</a:t>
            </a:r>
            <a:r>
              <a:rPr lang="zh-CN" altLang="en-US" sz="1400" dirty="0"/>
              <a:t>函数</a:t>
            </a:r>
            <a:r>
              <a:rPr lang="zh-CN" altLang="en-US" sz="1400" i="1" dirty="0"/>
              <a:t>重写此函数以控制子系统何时被创建，避免不必要的实例化。</a:t>
            </a:r>
            <a:endParaRPr lang="en-US" altLang="zh-CN" sz="1400" i="1" dirty="0"/>
          </a:p>
          <a:p>
            <a:r>
              <a:rPr lang="en-US" altLang="zh-CN" sz="1400" dirty="0" err="1"/>
              <a:t>RegisterCreatedPrimaryLayoutWidget</a:t>
            </a:r>
            <a:r>
              <a:rPr lang="zh-CN" altLang="en-US" sz="1400" dirty="0"/>
              <a:t>函数，</a:t>
            </a:r>
            <a:r>
              <a:rPr lang="zh-CN" altLang="en-US" sz="1400" i="1" dirty="0"/>
              <a:t>注册已创建的主布局控件，为后续</a:t>
            </a:r>
            <a:r>
              <a:rPr lang="en-US" altLang="zh-CN" sz="1400" i="1" dirty="0"/>
              <a:t>UI</a:t>
            </a:r>
            <a:r>
              <a:rPr lang="zh-CN" altLang="en-US" sz="1400" i="1" dirty="0"/>
              <a:t>操作建立根容器。</a:t>
            </a:r>
            <a:endParaRPr lang="en-US" altLang="zh-CN" sz="1400" i="1" dirty="0"/>
          </a:p>
          <a:p>
            <a:r>
              <a:rPr lang="en-US" altLang="zh-CN" sz="1400" dirty="0" err="1"/>
              <a:t>PushSoftWidgetToStackAsync</a:t>
            </a:r>
            <a:r>
              <a:rPr lang="zh-CN" altLang="en-US" sz="1400" dirty="0"/>
              <a:t>函数为</a:t>
            </a:r>
            <a:r>
              <a:rPr lang="zh-CN" altLang="en-US" sz="1400" i="1" dirty="0"/>
              <a:t>主要的异步</a:t>
            </a:r>
            <a:r>
              <a:rPr lang="en-US" altLang="zh-CN" sz="1400" i="1" dirty="0"/>
              <a:t>UI</a:t>
            </a:r>
            <a:r>
              <a:rPr lang="zh-CN" altLang="en-US" sz="1400" i="1" dirty="0"/>
              <a:t>推送方法：将软引用的控件类异步加载并添加到指定控件栈。</a:t>
            </a:r>
            <a:endParaRPr lang="zh-CN" altLang="en-US" sz="1400" dirty="0"/>
          </a:p>
        </p:txBody>
      </p:sp>
      <p:sp>
        <p:nvSpPr>
          <p:cNvPr id="45" name="标题 1">
            <a:extLst>
              <a:ext uri="{FF2B5EF4-FFF2-40B4-BE49-F238E27FC236}">
                <a16:creationId xmlns:a16="http://schemas.microsoft.com/office/drawing/2014/main" id="{63576653-12A8-EF7D-FE20-45FB6F74D61F}"/>
              </a:ext>
            </a:extLst>
          </p:cNvPr>
          <p:cNvSpPr txBox="1">
            <a:spLocks/>
          </p:cNvSpPr>
          <p:nvPr/>
        </p:nvSpPr>
        <p:spPr>
          <a:xfrm>
            <a:off x="7611649" y="4194669"/>
            <a:ext cx="3985365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dirty="0" err="1"/>
              <a:t>UGameInstanceSubsystem</a:t>
            </a:r>
            <a:r>
              <a:rPr lang="zh-CN" altLang="en-US" sz="2000" dirty="0"/>
              <a:t>优点</a:t>
            </a:r>
            <a:endParaRPr lang="en-US" altLang="zh-CN" sz="20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DEEA543-44E3-01BD-3212-1171DE2B5DD4}"/>
              </a:ext>
            </a:extLst>
          </p:cNvPr>
          <p:cNvSpPr txBox="1"/>
          <p:nvPr/>
        </p:nvSpPr>
        <p:spPr>
          <a:xfrm>
            <a:off x="7903923" y="4600483"/>
            <a:ext cx="394531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400" b="1" dirty="0"/>
              <a:t>自动实例化并具有托管生命周期的类</a:t>
            </a:r>
            <a:endParaRPr lang="en-US" altLang="zh-CN" sz="1400" b="1" dirty="0"/>
          </a:p>
          <a:p>
            <a:pPr marL="342900" indent="-342900">
              <a:buAutoNum type="arabicPeriod"/>
            </a:pPr>
            <a:r>
              <a:rPr lang="zh-CN" altLang="en-US" sz="1400" b="1" dirty="0"/>
              <a:t>避免在已经很繁忙的类上添加更多</a:t>
            </a:r>
            <a:r>
              <a:rPr lang="en-US" altLang="zh-CN" sz="1400" b="1" dirty="0"/>
              <a:t>API</a:t>
            </a:r>
          </a:p>
          <a:p>
            <a:pPr marL="342900" indent="-342900">
              <a:buAutoNum type="arabicPeriod"/>
            </a:pPr>
            <a:r>
              <a:rPr lang="zh-CN" altLang="en-US" sz="1400" b="1" dirty="0"/>
              <a:t>一个可以从蓝图和</a:t>
            </a:r>
            <a:r>
              <a:rPr lang="en-US" altLang="zh-CN" sz="1400" b="1" dirty="0"/>
              <a:t>C++</a:t>
            </a:r>
            <a:r>
              <a:rPr lang="zh-CN" altLang="en-US" sz="1400" b="1" dirty="0"/>
              <a:t>轻松访问的全局对象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47510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D08F-8910-8A13-061E-1C7438125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F6F773-17C3-4477-0122-FEF97A72C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5F7B32BE-E6EB-E37E-A045-97A100F10AC1}"/>
              </a:ext>
            </a:extLst>
          </p:cNvPr>
          <p:cNvSpPr txBox="1">
            <a:spLocks/>
          </p:cNvSpPr>
          <p:nvPr/>
        </p:nvSpPr>
        <p:spPr>
          <a:xfrm>
            <a:off x="594986" y="8079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WBP_CUW_PrimaryLayout</a:t>
            </a:r>
            <a:endParaRPr lang="en-US" altLang="zh-CN" sz="2000" b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04B8D0-0273-B96E-0623-B7EB004AB7B5}"/>
              </a:ext>
            </a:extLst>
          </p:cNvPr>
          <p:cNvSpPr txBox="1"/>
          <p:nvPr/>
        </p:nvSpPr>
        <p:spPr>
          <a:xfrm>
            <a:off x="745298" y="1156012"/>
            <a:ext cx="6951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在初始化函数中使用</a:t>
            </a:r>
            <a:r>
              <a:rPr lang="en-US" altLang="zh-CN" sz="1400" dirty="0" err="1"/>
              <a:t>RegisterWidgetStack</a:t>
            </a:r>
            <a:r>
              <a:rPr lang="zh-CN" altLang="en-US" sz="1400" dirty="0"/>
              <a:t>注册各种界面栈。</a:t>
            </a:r>
          </a:p>
        </p:txBody>
      </p:sp>
      <p:sp>
        <p:nvSpPr>
          <p:cNvPr id="19" name="标题 1">
            <a:extLst>
              <a:ext uri="{FF2B5EF4-FFF2-40B4-BE49-F238E27FC236}">
                <a16:creationId xmlns:a16="http://schemas.microsoft.com/office/drawing/2014/main" id="{49791F7E-410F-C1F1-0621-B6EFF83E9DF9}"/>
              </a:ext>
            </a:extLst>
          </p:cNvPr>
          <p:cNvSpPr txBox="1">
            <a:spLocks/>
          </p:cNvSpPr>
          <p:nvPr/>
        </p:nvSpPr>
        <p:spPr>
          <a:xfrm>
            <a:off x="594986" y="1463789"/>
            <a:ext cx="3626285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/>
              <a:t>•</a:t>
            </a:r>
            <a:r>
              <a:rPr lang="en-US" altLang="zh-CN" sz="2000" b="1" dirty="0" err="1"/>
              <a:t>UAsyncAction_PushSoftWidget</a:t>
            </a:r>
            <a:endParaRPr lang="en-US" altLang="zh-CN" sz="2000" b="1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601CE13-410E-01EE-EF90-58D4B084E9DA}"/>
              </a:ext>
            </a:extLst>
          </p:cNvPr>
          <p:cNvSpPr txBox="1"/>
          <p:nvPr/>
        </p:nvSpPr>
        <p:spPr>
          <a:xfrm>
            <a:off x="745298" y="1811872"/>
            <a:ext cx="69519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提供</a:t>
            </a:r>
            <a:r>
              <a:rPr lang="en-US" altLang="zh-CN" sz="1400" dirty="0" err="1"/>
              <a:t>PushSoftWidget</a:t>
            </a:r>
            <a:r>
              <a:rPr lang="zh-CN" altLang="en-US" sz="1400" dirty="0"/>
              <a:t>函数作为静态工厂函数，</a:t>
            </a:r>
            <a:r>
              <a:rPr lang="zh-CN" altLang="en-US" sz="1400" i="1" dirty="0"/>
              <a:t>创建并返回一个异步推送控件的操作节点实例。此函数暴露为蓝图可调用节点。并且用</a:t>
            </a:r>
            <a:r>
              <a:rPr lang="en-US" altLang="zh-CN" sz="1400" dirty="0" err="1"/>
              <a:t>RegisterWithGameInstance</a:t>
            </a:r>
            <a:r>
              <a:rPr lang="zh-CN" altLang="en-US" sz="1400" i="1" dirty="0"/>
              <a:t>将节点注册到游戏实例中，使其生命周期与游戏实例绑定。</a:t>
            </a:r>
            <a:endParaRPr lang="en-US" altLang="zh-CN" sz="1400" dirty="0"/>
          </a:p>
          <a:p>
            <a:r>
              <a:rPr lang="zh-CN" altLang="en-US" sz="1400" dirty="0"/>
              <a:t>提供</a:t>
            </a:r>
            <a:r>
              <a:rPr lang="en-US" altLang="zh-CN" sz="1400" dirty="0"/>
              <a:t>Activate</a:t>
            </a:r>
            <a:r>
              <a:rPr lang="zh-CN" altLang="en-US" sz="1400" dirty="0"/>
              <a:t>函数</a:t>
            </a:r>
            <a:r>
              <a:rPr lang="zh-CN" altLang="en-US" sz="1400" i="1" dirty="0"/>
              <a:t>异步操作的激活函数，在蓝图执行流到达此节点时自动调用。</a:t>
            </a:r>
          </a:p>
        </p:txBody>
      </p:sp>
      <p:sp>
        <p:nvSpPr>
          <p:cNvPr id="37" name="标题 1">
            <a:extLst>
              <a:ext uri="{FF2B5EF4-FFF2-40B4-BE49-F238E27FC236}">
                <a16:creationId xmlns:a16="http://schemas.microsoft.com/office/drawing/2014/main" id="{69664C79-C8EB-F591-37AA-657EAAA949C8}"/>
              </a:ext>
            </a:extLst>
          </p:cNvPr>
          <p:cNvSpPr txBox="1">
            <a:spLocks/>
          </p:cNvSpPr>
          <p:nvPr/>
        </p:nvSpPr>
        <p:spPr>
          <a:xfrm>
            <a:off x="533616" y="2810893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BP_FrontendController</a:t>
            </a:r>
            <a:endParaRPr lang="en-US" altLang="zh-CN" sz="20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2C304A5-9EB5-3194-27DA-88B3C2A0864B}"/>
              </a:ext>
            </a:extLst>
          </p:cNvPr>
          <p:cNvSpPr txBox="1"/>
          <p:nvPr/>
        </p:nvSpPr>
        <p:spPr>
          <a:xfrm>
            <a:off x="683928" y="3301103"/>
            <a:ext cx="695194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i="1" dirty="0"/>
              <a:t>重写</a:t>
            </a:r>
            <a:r>
              <a:rPr lang="en-US" altLang="zh-CN" sz="1400" i="1" dirty="0"/>
              <a:t>UE</a:t>
            </a:r>
            <a:r>
              <a:rPr lang="zh-CN" altLang="en-US" sz="1400" i="1" dirty="0"/>
              <a:t>的</a:t>
            </a:r>
            <a:r>
              <a:rPr lang="en-US" altLang="zh-CN" sz="1400" i="1" dirty="0" err="1"/>
              <a:t>ReceivePossess</a:t>
            </a:r>
            <a:r>
              <a:rPr lang="zh-CN" altLang="en-US" sz="1400" i="1" dirty="0"/>
              <a:t>事件函数，并在改函数下完成以下步骤。</a:t>
            </a:r>
            <a:endParaRPr lang="en-US" altLang="zh-CN" sz="1400" i="1" dirty="0"/>
          </a:p>
          <a:p>
            <a:pPr marL="342900" indent="-342900">
              <a:buAutoNum type="arabicPeriod"/>
            </a:pPr>
            <a:r>
              <a:rPr lang="zh-CN" altLang="en-US" sz="1400" dirty="0"/>
              <a:t>同步加载并创建主布局</a:t>
            </a:r>
            <a:r>
              <a:rPr lang="en-US" altLang="zh-CN" sz="1400" dirty="0"/>
              <a:t>UI</a:t>
            </a:r>
            <a:r>
              <a:rPr lang="zh-CN" altLang="en-US" sz="1400" dirty="0"/>
              <a:t>控件，使用</a:t>
            </a:r>
            <a:r>
              <a:rPr lang="en-US" altLang="zh-CN" sz="1400" dirty="0"/>
              <a:t>UE</a:t>
            </a:r>
            <a:r>
              <a:rPr lang="zh-CN" altLang="en-US" sz="1400" dirty="0"/>
              <a:t>的反射系统，根据路径加载</a:t>
            </a:r>
            <a:r>
              <a:rPr lang="en-US" altLang="zh-CN" sz="1400" dirty="0"/>
              <a:t>UI</a:t>
            </a:r>
            <a:r>
              <a:rPr lang="zh-CN" altLang="en-US" sz="1400" dirty="0"/>
              <a:t>控件蓝图类（</a:t>
            </a:r>
            <a:r>
              <a:rPr lang="en-US" altLang="zh-CN" sz="1400" dirty="0" err="1"/>
              <a:t>WBP_CUW_PrimaryLayout</a:t>
            </a:r>
            <a:r>
              <a:rPr lang="zh-CN" altLang="en-US" sz="1400" dirty="0"/>
              <a:t>）。</a:t>
            </a:r>
            <a:endParaRPr lang="en-US" altLang="zh-CN" sz="1400" dirty="0"/>
          </a:p>
          <a:p>
            <a:pPr marL="342900" indent="-342900">
              <a:buFontTx/>
              <a:buAutoNum type="arabicPeriod"/>
            </a:pPr>
            <a:r>
              <a:rPr lang="zh-CN" altLang="en-US" sz="1400" dirty="0"/>
              <a:t>从获取前端</a:t>
            </a:r>
            <a:r>
              <a:rPr lang="en-US" altLang="zh-CN" sz="1400" dirty="0"/>
              <a:t>UI</a:t>
            </a:r>
            <a:r>
              <a:rPr lang="zh-CN" altLang="en-US" sz="1400" dirty="0"/>
              <a:t>子系统并注册主布局控件，</a:t>
            </a:r>
            <a:r>
              <a:rPr lang="en-US" altLang="zh-CN" sz="1400" dirty="0"/>
              <a:t> </a:t>
            </a:r>
            <a:r>
              <a:rPr lang="zh-CN" altLang="en-US" sz="1400" dirty="0"/>
              <a:t>获取前端</a:t>
            </a:r>
            <a:r>
              <a:rPr lang="en-US" altLang="zh-CN" sz="1400" dirty="0"/>
              <a:t>UI</a:t>
            </a:r>
            <a:r>
              <a:rPr lang="zh-CN" altLang="en-US" sz="1400" dirty="0"/>
              <a:t>子系统的全局实例，它是管理所有前端</a:t>
            </a:r>
            <a:r>
              <a:rPr lang="en-US" altLang="zh-CN" sz="1400" dirty="0"/>
              <a:t>UI</a:t>
            </a:r>
            <a:r>
              <a:rPr lang="zh-CN" altLang="en-US" sz="1400" dirty="0"/>
              <a:t>的中心枢纽。然后注册控件到系统。</a:t>
            </a:r>
            <a:endParaRPr lang="en-US" altLang="zh-CN" sz="1400" dirty="0"/>
          </a:p>
          <a:p>
            <a:pPr marL="342900" indent="-342900">
              <a:buFontTx/>
              <a:buAutoNum type="arabicPeriod"/>
            </a:pPr>
            <a:r>
              <a:rPr lang="zh-CN" altLang="en-US" sz="1400" dirty="0"/>
              <a:t>异步推送初始界面到指定的</a:t>
            </a:r>
            <a:r>
              <a:rPr lang="en-US" altLang="zh-CN" sz="1400" dirty="0"/>
              <a:t>UI</a:t>
            </a:r>
            <a:r>
              <a:rPr lang="zh-CN" altLang="en-US" sz="1400" dirty="0"/>
              <a:t>堆栈，通过一个自定义的函数</a:t>
            </a:r>
            <a:r>
              <a:rPr lang="en-US" altLang="zh-CN" sz="1400" dirty="0" err="1"/>
              <a:t>PushSoftWidget</a:t>
            </a:r>
            <a:r>
              <a:rPr lang="zh-CN" altLang="en-US" sz="1400" dirty="0"/>
              <a:t>，（或数据资产）根据标签（</a:t>
            </a:r>
            <a:r>
              <a:rPr lang="en-US" altLang="zh-CN" sz="1400" dirty="0"/>
              <a:t>Tag</a:t>
            </a:r>
            <a:r>
              <a:rPr lang="zh-CN" altLang="en-US" sz="1400" dirty="0"/>
              <a:t>）获取要推送的控件类的软引用（</a:t>
            </a:r>
            <a:r>
              <a:rPr lang="en-US" altLang="zh-CN" sz="1400" dirty="0"/>
              <a:t>Soft Reference</a:t>
            </a:r>
            <a:r>
              <a:rPr lang="zh-CN" altLang="en-US" sz="1400" dirty="0"/>
              <a:t>），软引用允许异步加载资源，避免主线程卡顿，特别适合大型</a:t>
            </a:r>
            <a:r>
              <a:rPr lang="en-US" altLang="zh-CN" sz="1400" dirty="0"/>
              <a:t>UI</a:t>
            </a:r>
            <a:r>
              <a:rPr lang="zh-CN" altLang="en-US" sz="1400" dirty="0"/>
              <a:t>资源。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94C34CAE-D457-D9A5-7065-F6CC85421A6B}"/>
              </a:ext>
            </a:extLst>
          </p:cNvPr>
          <p:cNvSpPr txBox="1">
            <a:spLocks/>
          </p:cNvSpPr>
          <p:nvPr/>
        </p:nvSpPr>
        <p:spPr>
          <a:xfrm>
            <a:off x="533615" y="5178540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WBP_Template_Layout</a:t>
            </a:r>
            <a:endParaRPr lang="en-US" altLang="zh-CN" sz="2000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CD3B68-D834-D635-F647-9E98F0ECC027}"/>
              </a:ext>
            </a:extLst>
          </p:cNvPr>
          <p:cNvSpPr txBox="1"/>
          <p:nvPr/>
        </p:nvSpPr>
        <p:spPr>
          <a:xfrm>
            <a:off x="683928" y="5526623"/>
            <a:ext cx="6951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使用一个</a:t>
            </a:r>
            <a:r>
              <a:rPr lang="zh-CN" altLang="en-US" sz="1400" b="1" dirty="0"/>
              <a:t>模板布局（</a:t>
            </a:r>
            <a:r>
              <a:rPr lang="en-US" altLang="zh-CN" sz="1400" b="1" dirty="0"/>
              <a:t>Template Layout</a:t>
            </a:r>
            <a:r>
              <a:rPr lang="zh-CN" altLang="en-US" sz="1400" b="1" dirty="0"/>
              <a:t>）作为所有</a:t>
            </a:r>
            <a:r>
              <a:rPr lang="en-US" altLang="zh-CN" sz="1400" b="1" dirty="0"/>
              <a:t>UI</a:t>
            </a:r>
            <a:r>
              <a:rPr lang="zh-CN" altLang="en-US" sz="1400" b="1" dirty="0"/>
              <a:t>的基类</a:t>
            </a:r>
            <a:r>
              <a:rPr lang="zh-CN" altLang="en-US" sz="1400" dirty="0"/>
              <a:t>，提供命名扩展点（</a:t>
            </a:r>
            <a:r>
              <a:rPr lang="en-US" altLang="zh-CN" sz="1400" dirty="0"/>
              <a:t>Named Slots</a:t>
            </a:r>
            <a:r>
              <a:rPr lang="zh-CN" altLang="en-US" sz="1400" dirty="0"/>
              <a:t>），供子</a:t>
            </a:r>
            <a:r>
              <a:rPr lang="en-US" altLang="zh-CN" sz="1400" dirty="0"/>
              <a:t>Widget</a:t>
            </a:r>
            <a:r>
              <a:rPr lang="zh-CN" altLang="en-US" sz="1400" dirty="0"/>
              <a:t>填充内容。</a:t>
            </a:r>
          </a:p>
        </p:txBody>
      </p:sp>
    </p:spTree>
    <p:extLst>
      <p:ext uri="{BB962C8B-B14F-4D97-AF65-F5344CB8AC3E}">
        <p14:creationId xmlns:p14="http://schemas.microsoft.com/office/powerpoint/2010/main" val="361322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DB9-617C-E728-C42A-7888669AB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E9350D-2CE0-BCB3-08F7-9C094F5BF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22C56C9F-E0C1-A2D6-66E8-1066A08FE6CA}"/>
              </a:ext>
            </a:extLst>
          </p:cNvPr>
          <p:cNvSpPr txBox="1">
            <a:spLocks/>
          </p:cNvSpPr>
          <p:nvPr/>
        </p:nvSpPr>
        <p:spPr>
          <a:xfrm>
            <a:off x="594986" y="8079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UWidget_ActivatableBase</a:t>
            </a:r>
            <a:endParaRPr lang="en-US" altLang="zh-CN" sz="2000" b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D1B8E39-9DF0-5100-DE9B-9963B9E30C58}"/>
              </a:ext>
            </a:extLst>
          </p:cNvPr>
          <p:cNvSpPr txBox="1"/>
          <p:nvPr/>
        </p:nvSpPr>
        <p:spPr>
          <a:xfrm>
            <a:off x="745298" y="1156012"/>
            <a:ext cx="695194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创建部分工具函数供蓝图使用。</a:t>
            </a:r>
            <a:endParaRPr lang="en-US" altLang="zh-CN" sz="1400" dirty="0"/>
          </a:p>
          <a:p>
            <a:r>
              <a:rPr lang="en-US" altLang="zh-CN" sz="1400" dirty="0" err="1"/>
              <a:t>GetOwningFrontendPlayerController</a:t>
            </a:r>
            <a:r>
              <a:rPr lang="zh-CN" altLang="en-US" sz="1400" dirty="0"/>
              <a:t>函数，获取归属的前端玩家控制器，此函数采用懒加载（</a:t>
            </a:r>
            <a:r>
              <a:rPr lang="en-US" altLang="zh-CN" sz="1400" dirty="0"/>
              <a:t>Lazy-loading</a:t>
            </a:r>
            <a:r>
              <a:rPr lang="zh-CN" altLang="en-US" sz="1400" dirty="0"/>
              <a:t>）和缓存机制，避免重复查找，提升性能</a:t>
            </a:r>
            <a:r>
              <a:rPr lang="zh-CN" altLang="en-US" sz="1400" i="1" dirty="0"/>
              <a:t>。</a:t>
            </a:r>
            <a:endParaRPr lang="en-US" altLang="zh-CN" sz="1400" i="1" dirty="0"/>
          </a:p>
          <a:p>
            <a:r>
              <a:rPr lang="en-US" altLang="zh-CN" sz="1400" dirty="0" err="1"/>
              <a:t>GetInputSubsystem</a:t>
            </a:r>
            <a:r>
              <a:rPr lang="en-US" altLang="zh-CN" sz="1400" dirty="0"/>
              <a:t>()</a:t>
            </a:r>
            <a:r>
              <a:rPr lang="zh-CN" altLang="en-US" sz="1400" dirty="0"/>
              <a:t>函数，获取通用输入子系统（</a:t>
            </a:r>
            <a:r>
              <a:rPr lang="en-US" altLang="zh-CN" sz="1400" dirty="0" err="1"/>
              <a:t>CommonInputSubsystem</a:t>
            </a:r>
            <a:r>
              <a:rPr lang="zh-CN" altLang="en-US" sz="1400" dirty="0"/>
              <a:t>），用于处理不同输入设备（如键盘、手柄、触摸屏）的抽象和切换。</a:t>
            </a:r>
          </a:p>
        </p:txBody>
      </p:sp>
      <p:sp>
        <p:nvSpPr>
          <p:cNvPr id="37" name="标题 1">
            <a:extLst>
              <a:ext uri="{FF2B5EF4-FFF2-40B4-BE49-F238E27FC236}">
                <a16:creationId xmlns:a16="http://schemas.microsoft.com/office/drawing/2014/main" id="{CE21F355-4F7D-A7FC-7F46-F0FE6DB4593D}"/>
              </a:ext>
            </a:extLst>
          </p:cNvPr>
          <p:cNvSpPr txBox="1">
            <a:spLocks/>
          </p:cNvSpPr>
          <p:nvPr/>
        </p:nvSpPr>
        <p:spPr>
          <a:xfrm>
            <a:off x="594986" y="2325563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WBP_CAW_PressAnyKey</a:t>
            </a:r>
            <a:endParaRPr lang="en-US" altLang="zh-CN" sz="20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30C64AD-FA36-63EA-3C90-282E69D92851}"/>
              </a:ext>
            </a:extLst>
          </p:cNvPr>
          <p:cNvSpPr txBox="1"/>
          <p:nvPr/>
        </p:nvSpPr>
        <p:spPr>
          <a:xfrm>
            <a:off x="638827" y="2673646"/>
            <a:ext cx="6951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使用</a:t>
            </a:r>
            <a:r>
              <a:rPr lang="en-US" altLang="zh-CN" sz="1400" b="1" dirty="0" err="1"/>
              <a:t>WBP_Template_Layout</a:t>
            </a:r>
            <a:r>
              <a:rPr lang="zh-CN" altLang="en-US" sz="1400" dirty="0"/>
              <a:t>模板制作界面</a:t>
            </a:r>
            <a:r>
              <a:rPr lang="zh-CN" altLang="en-US" sz="1400" b="1" dirty="0"/>
              <a:t>，</a:t>
            </a:r>
            <a:r>
              <a:rPr lang="zh-CN" altLang="en-US" sz="1400" dirty="0"/>
              <a:t>并且添加文字闪动动画效果。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3FD2F201-EBB2-DF92-2FBE-EDCE3F83BF29}"/>
              </a:ext>
            </a:extLst>
          </p:cNvPr>
          <p:cNvSpPr txBox="1">
            <a:spLocks/>
          </p:cNvSpPr>
          <p:nvPr/>
        </p:nvSpPr>
        <p:spPr>
          <a:xfrm>
            <a:off x="683928" y="30217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</a:t>
            </a:r>
            <a:r>
              <a:rPr lang="en-US" altLang="zh-CN" sz="1800" b="1" dirty="0" err="1"/>
              <a:t>UFrontendDeveloperSettings</a:t>
            </a:r>
            <a:endParaRPr lang="en-US" altLang="zh-CN" sz="1800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3CA89E1-6A63-BF62-C1CD-AC75FFCA3AE2}"/>
              </a:ext>
            </a:extLst>
          </p:cNvPr>
          <p:cNvSpPr txBox="1"/>
          <p:nvPr/>
        </p:nvSpPr>
        <p:spPr>
          <a:xfrm>
            <a:off x="594986" y="3410118"/>
            <a:ext cx="695194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继承自</a:t>
            </a:r>
            <a:r>
              <a:rPr lang="en-US" altLang="zh-CN" sz="1400" b="1" dirty="0" err="1"/>
              <a:t>UDeveloperSettings</a:t>
            </a:r>
            <a:r>
              <a:rPr lang="zh-CN" altLang="en-US" sz="1400" b="1" dirty="0"/>
              <a:t>基类</a:t>
            </a:r>
            <a:r>
              <a:rPr lang="zh-CN" altLang="en-US" sz="1400" dirty="0"/>
              <a:t>能够自动集成到</a:t>
            </a:r>
            <a:r>
              <a:rPr lang="en-US" altLang="zh-CN" sz="1400" dirty="0"/>
              <a:t>UE</a:t>
            </a:r>
            <a:r>
              <a:rPr lang="zh-CN" altLang="en-US" sz="1400" dirty="0"/>
              <a:t>编辑器的 </a:t>
            </a:r>
            <a:r>
              <a:rPr lang="en-US" altLang="zh-CN" sz="1400" b="1" dirty="0"/>
              <a:t>“Project Settings”</a:t>
            </a:r>
            <a:r>
              <a:rPr lang="zh-CN" altLang="en-US" sz="1400" dirty="0"/>
              <a:t>中。设计师和程序员无需修改</a:t>
            </a:r>
            <a:r>
              <a:rPr lang="en-US" altLang="zh-CN" sz="1400" dirty="0"/>
              <a:t>C++</a:t>
            </a:r>
            <a:r>
              <a:rPr lang="zh-CN" altLang="en-US" sz="1400" dirty="0"/>
              <a:t>代码，即可在编辑器中直观地配置这些映射关系，极大地提高了工作流效率。</a:t>
            </a:r>
            <a:endParaRPr lang="en-US" altLang="zh-CN" sz="1400" dirty="0"/>
          </a:p>
          <a:p>
            <a:r>
              <a:rPr lang="zh-CN" altLang="en-US" sz="1400" dirty="0"/>
              <a:t>提供了前端控件映射表将</a:t>
            </a:r>
            <a:r>
              <a:rPr lang="en-US" altLang="zh-CN" sz="1400" dirty="0" err="1"/>
              <a:t>GameplayTag</a:t>
            </a:r>
            <a:r>
              <a:rPr lang="zh-CN" altLang="en-US" sz="1400" dirty="0"/>
              <a:t>关联到可激活控件类的软引用（</a:t>
            </a:r>
            <a:r>
              <a:rPr lang="en-US" altLang="zh-CN" sz="1400" dirty="0"/>
              <a:t>Soft Reference</a:t>
            </a:r>
            <a:r>
              <a:rPr lang="zh-CN" altLang="en-US" sz="1400" dirty="0"/>
              <a:t>）。</a:t>
            </a:r>
            <a:endParaRPr lang="en-US" altLang="zh-CN" sz="1400" dirty="0"/>
          </a:p>
          <a:p>
            <a:r>
              <a:rPr lang="zh-CN" altLang="en-US" sz="1400" dirty="0"/>
              <a:t>用途：用于在运行时根据标签动态、异步地加载和实例化</a:t>
            </a:r>
            <a:r>
              <a:rPr lang="en-US" altLang="zh-CN" sz="1400" dirty="0"/>
              <a:t>UI</a:t>
            </a:r>
            <a:r>
              <a:rPr lang="zh-CN" altLang="en-US" sz="1400" dirty="0"/>
              <a:t>控件（如各种菜单、弹窗）</a:t>
            </a:r>
            <a:r>
              <a:rPr lang="zh-CN" altLang="en-US" i="1" dirty="0"/>
              <a:t>。</a:t>
            </a:r>
            <a:endParaRPr lang="zh-CN" altLang="en-US" sz="1400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B5FF54E2-EB1E-6F39-30A1-53D374DAE6A0}"/>
              </a:ext>
            </a:extLst>
          </p:cNvPr>
          <p:cNvSpPr txBox="1">
            <a:spLocks/>
          </p:cNvSpPr>
          <p:nvPr/>
        </p:nvSpPr>
        <p:spPr>
          <a:xfrm>
            <a:off x="638827" y="4856668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</a:t>
            </a:r>
            <a:r>
              <a:rPr lang="en-US" altLang="zh-CN" sz="1800" b="1" dirty="0" err="1"/>
              <a:t>UFrontendFunctionLibrary</a:t>
            </a:r>
            <a:endParaRPr lang="en-US" altLang="zh-CN" sz="1800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F839A94-5DED-A23C-0561-4FF051814BF8}"/>
              </a:ext>
            </a:extLst>
          </p:cNvPr>
          <p:cNvSpPr txBox="1"/>
          <p:nvPr/>
        </p:nvSpPr>
        <p:spPr>
          <a:xfrm>
            <a:off x="638827" y="5231312"/>
            <a:ext cx="6951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提供了</a:t>
            </a:r>
            <a:r>
              <a:rPr lang="en-US" altLang="zh-CN" sz="1400" dirty="0" err="1"/>
              <a:t>GetFrontendSoftWidgetClassByTag</a:t>
            </a:r>
            <a:r>
              <a:rPr lang="zh-CN" altLang="en-US" sz="1400" dirty="0"/>
              <a:t>函数</a:t>
            </a:r>
            <a:r>
              <a:rPr lang="zh-CN" altLang="en-US" sz="1400" i="1" dirty="0"/>
              <a:t>通过游戏标签获取前端控件类的软引用。</a:t>
            </a:r>
            <a:endParaRPr lang="zh-CN" altLang="en-US" sz="1400" dirty="0"/>
          </a:p>
          <a:p>
            <a:r>
              <a:rPr lang="zh-CN" altLang="en-US" sz="1400" dirty="0"/>
              <a:t>帮助将添加在映射表的</a:t>
            </a:r>
            <a:r>
              <a:rPr lang="en-US" altLang="zh-CN" sz="1400" dirty="0"/>
              <a:t>tag</a:t>
            </a:r>
            <a:r>
              <a:rPr lang="zh-CN" altLang="en-US" sz="1400" dirty="0"/>
              <a:t>通过</a:t>
            </a:r>
            <a:r>
              <a:rPr lang="en-US" altLang="zh-CN" sz="1400" dirty="0"/>
              <a:t>tag</a:t>
            </a:r>
            <a:r>
              <a:rPr lang="zh-CN" altLang="en-US" sz="1400" dirty="0"/>
              <a:t>调用软引用。解决了硬编码问题。</a:t>
            </a:r>
          </a:p>
        </p:txBody>
      </p:sp>
    </p:spTree>
    <p:extLst>
      <p:ext uri="{BB962C8B-B14F-4D97-AF65-F5344CB8AC3E}">
        <p14:creationId xmlns:p14="http://schemas.microsoft.com/office/powerpoint/2010/main" val="39710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D191F-82DA-FC76-2B53-DB0F912A3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55EE7F-5200-E098-AD7A-18CE54967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3576" y="3032773"/>
            <a:ext cx="7724847" cy="792454"/>
          </a:xfrm>
        </p:spPr>
        <p:txBody>
          <a:bodyPr>
            <a:normAutofit/>
          </a:bodyPr>
          <a:lstStyle/>
          <a:p>
            <a:r>
              <a:rPr lang="zh-CN" altLang="en-US" sz="4000" dirty="0"/>
              <a:t>第二部分</a:t>
            </a:r>
            <a:r>
              <a:rPr lang="en-US" altLang="zh-CN" sz="4000" dirty="0"/>
              <a:t>:</a:t>
            </a:r>
            <a:r>
              <a:rPr lang="zh-CN" altLang="en-US" sz="4000" dirty="0"/>
              <a:t>主界面</a:t>
            </a:r>
          </a:p>
        </p:txBody>
      </p:sp>
    </p:spTree>
    <p:extLst>
      <p:ext uri="{BB962C8B-B14F-4D97-AF65-F5344CB8AC3E}">
        <p14:creationId xmlns:p14="http://schemas.microsoft.com/office/powerpoint/2010/main" val="2391263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E2AA1-F1A2-8802-FFAC-8C0C31A2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B7B16F-1807-C280-A992-7EC1BA6A1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68395" y="86027"/>
            <a:ext cx="7724847" cy="792454"/>
          </a:xfrm>
        </p:spPr>
        <p:txBody>
          <a:bodyPr>
            <a:normAutofit/>
          </a:bodyPr>
          <a:lstStyle/>
          <a:p>
            <a:r>
              <a:rPr lang="zh-CN" altLang="en-US" sz="4000" dirty="0"/>
              <a:t>第二部分</a:t>
            </a:r>
            <a:r>
              <a:rPr lang="en-US" altLang="zh-CN" sz="4000" dirty="0"/>
              <a:t>:</a:t>
            </a:r>
            <a:r>
              <a:rPr lang="zh-CN" altLang="en-US" sz="4000" dirty="0"/>
              <a:t>主界面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C39576-3881-E816-4639-275F73AC89EE}"/>
              </a:ext>
            </a:extLst>
          </p:cNvPr>
          <p:cNvSpPr/>
          <p:nvPr/>
        </p:nvSpPr>
        <p:spPr>
          <a:xfrm>
            <a:off x="388857" y="3178913"/>
            <a:ext cx="2779649" cy="11275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/>
              <a:t>WBP_CAW_PressAnyKey</a:t>
            </a:r>
            <a:br>
              <a:rPr lang="en-US" altLang="zh-CN" b="1" dirty="0"/>
            </a:br>
            <a:r>
              <a:rPr lang="zh-CN" altLang="en-US" b="1" dirty="0"/>
              <a:t>监听任意键</a:t>
            </a:r>
            <a:endParaRPr lang="zh-CN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6A7531-9376-CA5D-9188-E501BCFC3F12}"/>
              </a:ext>
            </a:extLst>
          </p:cNvPr>
          <p:cNvSpPr/>
          <p:nvPr/>
        </p:nvSpPr>
        <p:spPr>
          <a:xfrm>
            <a:off x="3765200" y="3178913"/>
            <a:ext cx="2536945" cy="112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/>
              <a:t>WBP_CAW_MainMenu</a:t>
            </a:r>
            <a:br>
              <a:rPr lang="en-US" altLang="zh-CN" b="1" dirty="0"/>
            </a:br>
            <a:r>
              <a:rPr lang="zh-CN" altLang="en-US" b="1" dirty="0"/>
              <a:t>（主界面）​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dirty="0"/>
              <a:t>许多按键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B923701-0D42-F432-DBC2-A93A8C381B16}"/>
              </a:ext>
            </a:extLst>
          </p:cNvPr>
          <p:cNvSpPr/>
          <p:nvPr/>
        </p:nvSpPr>
        <p:spPr>
          <a:xfrm>
            <a:off x="7356452" y="2865232"/>
            <a:ext cx="2536945" cy="17514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Frontend UI Subsystem</a:t>
            </a:r>
            <a:br>
              <a:rPr lang="en-US" altLang="zh-CN" b="1" dirty="0"/>
            </a:br>
            <a:r>
              <a:rPr lang="zh-CN" altLang="en-US" b="1" dirty="0"/>
              <a:t>（前端</a:t>
            </a:r>
            <a:r>
              <a:rPr lang="en-US" altLang="zh-CN" b="1" dirty="0"/>
              <a:t>UI</a:t>
            </a:r>
            <a:r>
              <a:rPr lang="zh-CN" altLang="en-US" b="1" dirty="0"/>
              <a:t>子系统）​​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b="1" dirty="0"/>
              <a:t>存储主布局引用</a:t>
            </a:r>
            <a:endParaRPr lang="en-US" altLang="zh-CN" b="1" dirty="0"/>
          </a:p>
          <a:p>
            <a:pPr algn="ctr"/>
            <a:r>
              <a:rPr lang="en-US" altLang="zh-CN" dirty="0"/>
              <a:t>•</a:t>
            </a:r>
            <a:r>
              <a:rPr lang="zh-CN" altLang="en-US" dirty="0"/>
              <a:t>给</a:t>
            </a:r>
            <a:r>
              <a:rPr lang="en-US" altLang="zh-CN" dirty="0" err="1"/>
              <a:t>PushingWidgets</a:t>
            </a:r>
            <a:r>
              <a:rPr lang="zh-CN" altLang="en-US" dirty="0"/>
              <a:t>提供方法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15B52220-7B9E-8F0C-8855-F2B755BAD172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6302145" y="3740960"/>
            <a:ext cx="10543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30FB624-809D-32B3-0DD2-912958BF83AA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168506" y="3740961"/>
            <a:ext cx="596694" cy="1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1431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12162-19C6-E77E-581B-27B92B5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719B01-5FAA-031B-50F9-3DEF19DE1D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8996D210-AA2B-1005-FD1D-8E6FC86454FB}"/>
              </a:ext>
            </a:extLst>
          </p:cNvPr>
          <p:cNvSpPr txBox="1">
            <a:spLocks/>
          </p:cNvSpPr>
          <p:nvPr/>
        </p:nvSpPr>
        <p:spPr>
          <a:xfrm>
            <a:off x="594986" y="8079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UCommonButtonBase</a:t>
            </a:r>
            <a:endParaRPr lang="en-US" altLang="zh-CN" sz="2000" b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4A8B07-0780-4049-3F00-970CDD871415}"/>
              </a:ext>
            </a:extLst>
          </p:cNvPr>
          <p:cNvSpPr txBox="1"/>
          <p:nvPr/>
        </p:nvSpPr>
        <p:spPr>
          <a:xfrm>
            <a:off x="745298" y="1156012"/>
            <a:ext cx="69519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•</a:t>
            </a:r>
            <a:r>
              <a:rPr lang="zh-CN" altLang="en-US" sz="1400" dirty="0"/>
              <a:t>支持集中样式资源管理，包括按钮样式和按钮文本样式的样式资源。</a:t>
            </a:r>
            <a:endParaRPr lang="en-US" altLang="zh-CN" sz="1400" dirty="0"/>
          </a:p>
          <a:p>
            <a:r>
              <a:rPr lang="en-US" altLang="zh-CN" sz="1400" b="1" dirty="0"/>
              <a:t>•</a:t>
            </a:r>
            <a:r>
              <a:rPr lang="zh-CN" altLang="en-US" sz="1400" dirty="0"/>
              <a:t>通过自定义输入轻松触发，通过数据表配置输入。</a:t>
            </a:r>
            <a:endParaRPr lang="en-US" altLang="zh-CN" sz="1400" dirty="0"/>
          </a:p>
          <a:p>
            <a:r>
              <a:rPr lang="en-US" altLang="zh-CN" sz="1400" b="1" dirty="0"/>
              <a:t>•</a:t>
            </a:r>
            <a:r>
              <a:rPr lang="zh-CN" altLang="en-US" sz="1400" dirty="0"/>
              <a:t>自动响应输入法的变化，比如键鼠切换到手柄。如果已绑定，则更新平台特定图标。</a:t>
            </a:r>
            <a:endParaRPr lang="en-US" altLang="zh-CN" sz="1400" dirty="0"/>
          </a:p>
          <a:p>
            <a:r>
              <a:rPr lang="en-US" altLang="zh-CN" sz="1400" b="1" dirty="0"/>
              <a:t>•</a:t>
            </a:r>
            <a:r>
              <a:rPr lang="zh-CN" altLang="en-US" sz="1400" b="1" dirty="0"/>
              <a:t> </a:t>
            </a:r>
            <a:r>
              <a:rPr lang="zh-CN" altLang="en-US" sz="1400" dirty="0"/>
              <a:t>原生支持游戏手柄的焦点管理和导航，无需开发者从头构建复杂的导航逻辑。</a:t>
            </a:r>
            <a:endParaRPr lang="en-US" altLang="zh-CN" sz="1400" b="1" dirty="0"/>
          </a:p>
        </p:txBody>
      </p:sp>
      <p:sp>
        <p:nvSpPr>
          <p:cNvPr id="37" name="标题 1">
            <a:extLst>
              <a:ext uri="{FF2B5EF4-FFF2-40B4-BE49-F238E27FC236}">
                <a16:creationId xmlns:a16="http://schemas.microsoft.com/office/drawing/2014/main" id="{A0CC0414-9A43-4218-6F17-23CEA40C477B}"/>
              </a:ext>
            </a:extLst>
          </p:cNvPr>
          <p:cNvSpPr txBox="1">
            <a:spLocks/>
          </p:cNvSpPr>
          <p:nvPr/>
        </p:nvSpPr>
        <p:spPr>
          <a:xfrm>
            <a:off x="594986" y="2110119"/>
            <a:ext cx="3682442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</a:t>
            </a:r>
            <a:r>
              <a:rPr lang="en-US" altLang="zh-CN" sz="2000" b="1" dirty="0" err="1"/>
              <a:t>UFrontendCommonButtonBase</a:t>
            </a:r>
            <a:endParaRPr lang="en-US" altLang="zh-CN" sz="20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8C57292-FCDB-0CD3-09EB-E10C9BB0DD84}"/>
              </a:ext>
            </a:extLst>
          </p:cNvPr>
          <p:cNvSpPr txBox="1"/>
          <p:nvPr/>
        </p:nvSpPr>
        <p:spPr>
          <a:xfrm>
            <a:off x="638827" y="2458202"/>
            <a:ext cx="1095818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UFrontEndCommonButtonBase</a:t>
            </a:r>
            <a:r>
              <a:rPr lang="en-US" altLang="zh-CN" sz="1400" dirty="0"/>
              <a:t> </a:t>
            </a:r>
            <a:r>
              <a:rPr lang="zh-CN" altLang="en-US" sz="1400" dirty="0"/>
              <a:t>是一个基于 </a:t>
            </a:r>
            <a:r>
              <a:rPr lang="en-US" altLang="zh-CN" sz="1400" dirty="0"/>
              <a:t>Common UI </a:t>
            </a:r>
            <a:r>
              <a:rPr lang="zh-CN" altLang="en-US" sz="1400" dirty="0"/>
              <a:t>的 </a:t>
            </a:r>
            <a:r>
              <a:rPr lang="en-US" altLang="zh-CN" sz="1400" dirty="0" err="1"/>
              <a:t>UCommonButtonBase</a:t>
            </a:r>
            <a:r>
              <a:rPr lang="en-US" altLang="zh-CN" sz="1400" dirty="0"/>
              <a:t> </a:t>
            </a:r>
            <a:r>
              <a:rPr lang="zh-CN" altLang="en-US" sz="1400" dirty="0"/>
              <a:t>扩展 </a:t>
            </a:r>
            <a:r>
              <a:rPr lang="en-US" altLang="zh-CN" sz="1400" dirty="0"/>
              <a:t>C++ </a:t>
            </a:r>
            <a:r>
              <a:rPr lang="zh-CN" altLang="en-US" sz="1400" dirty="0"/>
              <a:t>按钮基类，旨在为游戏前端 </a:t>
            </a:r>
            <a:r>
              <a:rPr lang="en-US" altLang="zh-CN" sz="1400" dirty="0"/>
              <a:t>UI </a:t>
            </a:r>
            <a:r>
              <a:rPr lang="zh-CN" altLang="en-US" sz="1400" dirty="0"/>
              <a:t>提供增强的文本显示和控制功能。它通过定义可选的绑定点 </a:t>
            </a:r>
            <a:r>
              <a:rPr lang="en-US" altLang="zh-CN" sz="1400" dirty="0" err="1"/>
              <a:t>CommonTextBlock_ButtonText</a:t>
            </a:r>
            <a:r>
              <a:rPr lang="en-US" altLang="zh-CN" sz="1400" dirty="0"/>
              <a:t> </a:t>
            </a:r>
            <a:r>
              <a:rPr lang="zh-CN" altLang="en-US" sz="1400" dirty="0"/>
              <a:t>来连接蓝图中的文本控件，并添加了 </a:t>
            </a:r>
            <a:r>
              <a:rPr lang="en-US" altLang="zh-CN" sz="1400" dirty="0" err="1"/>
              <a:t>ButtonDisplayText</a:t>
            </a:r>
            <a:r>
              <a:rPr lang="en-US" altLang="zh-CN" sz="1400" dirty="0"/>
              <a:t> </a:t>
            </a:r>
            <a:r>
              <a:rPr lang="zh-CN" altLang="en-US" sz="1400" dirty="0"/>
              <a:t>和 </a:t>
            </a:r>
            <a:r>
              <a:rPr lang="en-US" altLang="zh-CN" sz="1400" dirty="0" err="1"/>
              <a:t>ButtonDescriptionText</a:t>
            </a:r>
            <a:r>
              <a:rPr lang="en-US" altLang="zh-CN" sz="1400" dirty="0"/>
              <a:t> </a:t>
            </a:r>
            <a:r>
              <a:rPr lang="zh-CN" altLang="en-US" sz="1400" dirty="0"/>
              <a:t>属性来管理按钮的主要显示文本和描述文本。该类最主要的功能是实现了 </a:t>
            </a:r>
            <a:r>
              <a:rPr lang="en-US" altLang="zh-CN" sz="1400" dirty="0" err="1"/>
              <a:t>SetButtonText</a:t>
            </a:r>
            <a:r>
              <a:rPr lang="en-US" altLang="zh-CN" sz="1400" dirty="0"/>
              <a:t> </a:t>
            </a:r>
            <a:r>
              <a:rPr lang="zh-CN" altLang="en-US" sz="1400" dirty="0"/>
              <a:t>函数，该函数负责处理文本的非空检查和转换逻辑，特别是允许通过 </a:t>
            </a:r>
            <a:r>
              <a:rPr lang="en-US" altLang="zh-CN" sz="1400" dirty="0" err="1"/>
              <a:t>bUseUppercaseForButtonText</a:t>
            </a:r>
            <a:r>
              <a:rPr lang="en-US" altLang="zh-CN" sz="1400" dirty="0"/>
              <a:t> </a:t>
            </a:r>
            <a:r>
              <a:rPr lang="zh-CN" altLang="en-US" sz="1400" dirty="0"/>
              <a:t>属性控制文本是否自动转换为大写，同时，通过覆盖 </a:t>
            </a:r>
            <a:r>
              <a:rPr lang="en-US" altLang="zh-CN" sz="1400" dirty="0" err="1"/>
              <a:t>NativePreConstruct</a:t>
            </a:r>
            <a:r>
              <a:rPr lang="en-US" altLang="zh-CN" sz="1400" dirty="0"/>
              <a:t>() </a:t>
            </a:r>
            <a:r>
              <a:rPr lang="zh-CN" altLang="en-US" sz="1400" dirty="0"/>
              <a:t>函数，确保这些 </a:t>
            </a:r>
            <a:r>
              <a:rPr lang="en-US" altLang="zh-CN" sz="1400" dirty="0"/>
              <a:t>C++ </a:t>
            </a:r>
            <a:r>
              <a:rPr lang="zh-CN" altLang="en-US" sz="1400" dirty="0"/>
              <a:t>定义的文本和样式控制在蓝图编辑器中能够实现实时预览和更新。</a:t>
            </a:r>
            <a:endParaRPr lang="en-US" altLang="zh-CN" sz="1400" dirty="0"/>
          </a:p>
          <a:p>
            <a:r>
              <a:rPr lang="en-US" altLang="zh-CN" sz="1400" dirty="0" err="1"/>
              <a:t>NativeOnCurrentTextStyleChanged</a:t>
            </a:r>
            <a:r>
              <a:rPr lang="zh-CN" altLang="en-US" sz="1400" dirty="0"/>
              <a:t>重载实现手动更新文本样式。该函数会在按钮状态改变（如悬停、选中等）时被调用。</a:t>
            </a:r>
            <a:endParaRPr lang="en-US" altLang="zh-CN" sz="1400" dirty="0"/>
          </a:p>
          <a:p>
            <a:r>
              <a:rPr lang="en-US" altLang="zh-CN" sz="1400" dirty="0" err="1"/>
              <a:t>NativeOnHovered</a:t>
            </a:r>
            <a:r>
              <a:rPr lang="en-US" altLang="zh-CN" sz="1400" dirty="0"/>
              <a:t>()</a:t>
            </a:r>
            <a:r>
              <a:rPr lang="zh-CN" altLang="en-US" sz="1400" dirty="0"/>
              <a:t>和</a:t>
            </a:r>
            <a:r>
              <a:rPr lang="en-US" altLang="zh-CN" sz="1400" dirty="0" err="1"/>
              <a:t>NativeOnUnhovered</a:t>
            </a:r>
            <a:r>
              <a:rPr lang="zh-CN" altLang="en-US" sz="1400" dirty="0"/>
              <a:t>重载</a:t>
            </a:r>
            <a:r>
              <a:rPr lang="en-US" altLang="zh-CN" sz="1400" dirty="0"/>
              <a:t>,</a:t>
            </a:r>
            <a:r>
              <a:rPr lang="zh-CN" altLang="en-US" sz="1400" dirty="0"/>
              <a:t>获取 </a:t>
            </a:r>
            <a:r>
              <a:rPr lang="en-US" altLang="zh-CN" sz="1400" dirty="0" err="1"/>
              <a:t>UFrontendUISubsystem</a:t>
            </a:r>
            <a:r>
              <a:rPr lang="en-US" altLang="zh-CN" sz="1400" dirty="0"/>
              <a:t> </a:t>
            </a:r>
            <a:r>
              <a:rPr lang="zh-CN" altLang="en-US" sz="1400" dirty="0"/>
              <a:t>实例。以此广播按钮本身和它的描述文本。</a:t>
            </a:r>
            <a:endParaRPr lang="en-US" altLang="zh-CN" sz="1400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135B7E08-7C86-83D9-D822-6072BE89273F}"/>
              </a:ext>
            </a:extLst>
          </p:cNvPr>
          <p:cNvSpPr txBox="1">
            <a:spLocks/>
          </p:cNvSpPr>
          <p:nvPr/>
        </p:nvSpPr>
        <p:spPr>
          <a:xfrm>
            <a:off x="294277" y="4225757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</a:t>
            </a:r>
            <a:r>
              <a:rPr lang="en-US" altLang="zh-CN" sz="1800" b="1" dirty="0" err="1"/>
              <a:t>WBP_Button_Default</a:t>
            </a:r>
            <a:endParaRPr lang="en-US" altLang="zh-CN" sz="1800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3FD0B0-6AA9-97BC-BF76-CBE0B6AB07F5}"/>
              </a:ext>
            </a:extLst>
          </p:cNvPr>
          <p:cNvSpPr txBox="1"/>
          <p:nvPr/>
        </p:nvSpPr>
        <p:spPr>
          <a:xfrm>
            <a:off x="638827" y="4573840"/>
            <a:ext cx="695194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WB_Button_Default</a:t>
            </a:r>
            <a:r>
              <a:rPr lang="en-US" altLang="zh-CN" sz="1400" dirty="0"/>
              <a:t> </a:t>
            </a:r>
            <a:r>
              <a:rPr lang="zh-CN" altLang="en-US" sz="1400" dirty="0"/>
              <a:t>蓝图 </a:t>
            </a:r>
            <a:r>
              <a:rPr lang="en-US" altLang="zh-CN" sz="1400" dirty="0"/>
              <a:t>Widget </a:t>
            </a:r>
            <a:r>
              <a:rPr lang="zh-CN" altLang="en-US" sz="1400" dirty="0"/>
              <a:t>作为整个项目的主菜单标准按钮模板，其核心作用是继承自 </a:t>
            </a:r>
            <a:r>
              <a:rPr lang="en-US" altLang="zh-CN" sz="1400" dirty="0"/>
              <a:t>C++ </a:t>
            </a:r>
            <a:r>
              <a:rPr lang="zh-CN" altLang="en-US" sz="1400" dirty="0"/>
              <a:t>基类 </a:t>
            </a:r>
            <a:r>
              <a:rPr lang="en-US" altLang="zh-CN" sz="1400" dirty="0" err="1"/>
              <a:t>UFrontEndCommonButtonBase</a:t>
            </a:r>
            <a:r>
              <a:rPr lang="en-US" altLang="zh-CN" sz="1400" dirty="0"/>
              <a:t> </a:t>
            </a:r>
            <a:r>
              <a:rPr lang="zh-CN" altLang="en-US" sz="1400" dirty="0"/>
              <a:t>并实现功能与视觉的绑定。具体来说，它在蓝图中构建了以 </a:t>
            </a:r>
            <a:r>
              <a:rPr lang="en-US" altLang="zh-CN" sz="1400" dirty="0"/>
              <a:t>Overlay </a:t>
            </a:r>
            <a:r>
              <a:rPr lang="zh-CN" altLang="en-US" sz="1400" dirty="0"/>
              <a:t>为根容器的 </a:t>
            </a:r>
            <a:r>
              <a:rPr lang="en-US" altLang="zh-CN" sz="1400" dirty="0"/>
              <a:t>UI </a:t>
            </a:r>
            <a:r>
              <a:rPr lang="zh-CN" altLang="en-US" sz="1400" dirty="0"/>
              <a:t>结构，应用了透明背景的通用样式，最关键的是，它通过将内部的文本控件命名为 </a:t>
            </a:r>
            <a:r>
              <a:rPr lang="en-US" altLang="zh-CN" sz="1400" dirty="0"/>
              <a:t>C++ </a:t>
            </a:r>
            <a:r>
              <a:rPr lang="zh-CN" altLang="en-US" sz="1400" dirty="0"/>
              <a:t>中预设的 </a:t>
            </a:r>
            <a:r>
              <a:rPr lang="en-US" altLang="zh-CN" sz="1400" dirty="0" err="1"/>
              <a:t>CommonTextBlock_ButtonText</a:t>
            </a:r>
            <a:r>
              <a:rPr lang="zh-CN" altLang="en-US" sz="1400" dirty="0"/>
              <a:t>，成功地将 </a:t>
            </a:r>
            <a:r>
              <a:rPr lang="en-US" altLang="zh-CN" sz="1400" dirty="0"/>
              <a:t>C++ </a:t>
            </a:r>
            <a:r>
              <a:rPr lang="zh-CN" altLang="en-US" sz="1400" dirty="0"/>
              <a:t>代码定义的文本控制逻辑（包括 </a:t>
            </a:r>
            <a:r>
              <a:rPr lang="en-US" altLang="zh-CN" sz="1400" dirty="0" err="1"/>
              <a:t>ButtonDisplayText</a:t>
            </a:r>
            <a:r>
              <a:rPr lang="en-US" altLang="zh-CN" sz="1400" dirty="0"/>
              <a:t> </a:t>
            </a:r>
            <a:r>
              <a:rPr lang="zh-CN" altLang="en-US" sz="1400" dirty="0"/>
              <a:t>属性和大小写转换功能）连接到蓝图的视觉组件上，从而成为一个可复用、样式化、且功能已完全绑定的前端 </a:t>
            </a:r>
            <a:r>
              <a:rPr lang="en-US" altLang="zh-CN" sz="1400" dirty="0"/>
              <a:t>UI </a:t>
            </a:r>
            <a:r>
              <a:rPr lang="zh-CN" altLang="en-US" sz="1400" dirty="0"/>
              <a:t>组件。</a:t>
            </a:r>
          </a:p>
        </p:txBody>
      </p:sp>
    </p:spTree>
    <p:extLst>
      <p:ext uri="{BB962C8B-B14F-4D97-AF65-F5344CB8AC3E}">
        <p14:creationId xmlns:p14="http://schemas.microsoft.com/office/powerpoint/2010/main" val="1440442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E125E-42E1-3825-D6FB-44CCD968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4E1071-C93B-F590-70E9-361980C75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7ADDE6AC-A620-52CA-3B02-CBDF36944B7C}"/>
              </a:ext>
            </a:extLst>
          </p:cNvPr>
          <p:cNvSpPr txBox="1">
            <a:spLocks/>
          </p:cNvSpPr>
          <p:nvPr/>
        </p:nvSpPr>
        <p:spPr>
          <a:xfrm>
            <a:off x="594986" y="8079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WBP_CAW_PressAnyKey</a:t>
            </a:r>
            <a:endParaRPr lang="en-US" altLang="zh-CN" sz="2000" b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B743996-DCBF-5A2A-3041-95B3C7CE8E02}"/>
              </a:ext>
            </a:extLst>
          </p:cNvPr>
          <p:cNvSpPr txBox="1"/>
          <p:nvPr/>
        </p:nvSpPr>
        <p:spPr>
          <a:xfrm>
            <a:off x="745298" y="1156012"/>
            <a:ext cx="69519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在</a:t>
            </a:r>
            <a:r>
              <a:rPr lang="en-US" altLang="zh-CN" sz="1400" dirty="0"/>
              <a:t>Construct()</a:t>
            </a:r>
            <a:r>
              <a:rPr lang="zh-CN" altLang="en-US" sz="1400" dirty="0"/>
              <a:t>中用</a:t>
            </a:r>
            <a:r>
              <a:rPr lang="en-US" altLang="zh-CN" sz="1400" dirty="0" err="1"/>
              <a:t>PlayAnimation</a:t>
            </a:r>
            <a:r>
              <a:rPr lang="zh-CN" altLang="en-US" sz="1400" dirty="0"/>
              <a:t>播放动画。</a:t>
            </a:r>
            <a:endParaRPr lang="en-US" altLang="zh-CN" sz="1400" dirty="0"/>
          </a:p>
          <a:p>
            <a:r>
              <a:rPr lang="en-US" altLang="zh-CN" sz="1400" dirty="0" err="1"/>
              <a:t>PushMainMenu</a:t>
            </a:r>
            <a:r>
              <a:rPr lang="en-US" altLang="zh-CN" sz="1400" dirty="0"/>
              <a:t>()</a:t>
            </a:r>
            <a:r>
              <a:rPr lang="zh-CN" altLang="en-US" sz="1400" dirty="0"/>
              <a:t>中调用</a:t>
            </a:r>
            <a:r>
              <a:rPr lang="en-US" altLang="zh-CN" sz="1400" dirty="0" err="1"/>
              <a:t>GetOwningFrontEndPlayerController</a:t>
            </a:r>
            <a:r>
              <a:rPr lang="zh-CN" altLang="en-US" sz="1400" dirty="0"/>
              <a:t>函数获得玩家控制器。随后用</a:t>
            </a:r>
            <a:r>
              <a:rPr lang="en-US" altLang="zh-CN" sz="1400" dirty="0" err="1"/>
              <a:t>UAsyncAction_PushSoftWidget</a:t>
            </a:r>
            <a:r>
              <a:rPr lang="zh-CN" altLang="en-US" sz="1400" dirty="0"/>
              <a:t>的</a:t>
            </a:r>
            <a:r>
              <a:rPr lang="en-US" altLang="zh-CN" sz="1400" dirty="0" err="1"/>
              <a:t>PushSoftWidget</a:t>
            </a:r>
            <a:r>
              <a:rPr lang="zh-CN" altLang="en-US" sz="1400" dirty="0"/>
              <a:t>函数将</a:t>
            </a:r>
            <a:r>
              <a:rPr lang="en-US" altLang="zh-CN" sz="1400" dirty="0" err="1"/>
              <a:t>WBP_CAW_MainMenu</a:t>
            </a:r>
            <a:r>
              <a:rPr lang="zh-CN" altLang="en-US" sz="1400" dirty="0"/>
              <a:t>推入到</a:t>
            </a:r>
            <a:r>
              <a:rPr lang="en-US" altLang="zh-CN" sz="1400" dirty="0" err="1"/>
              <a:t>WidgetStack.FrontEnd</a:t>
            </a:r>
            <a:r>
              <a:rPr lang="zh-CN" altLang="en-US" sz="1400" dirty="0"/>
              <a:t>中。</a:t>
            </a:r>
            <a:endParaRPr lang="en-US" altLang="zh-CN" sz="1400" dirty="0"/>
          </a:p>
          <a:p>
            <a:r>
              <a:rPr lang="en-US" altLang="zh-CN" sz="1400" dirty="0" err="1"/>
              <a:t>OnMouseButtonDown</a:t>
            </a:r>
            <a:r>
              <a:rPr lang="zh-CN" altLang="en-US" sz="1400" dirty="0"/>
              <a:t>和</a:t>
            </a:r>
            <a:r>
              <a:rPr lang="en-US" altLang="zh-CN" sz="1400" dirty="0" err="1"/>
              <a:t>OnKeyDown</a:t>
            </a:r>
            <a:r>
              <a:rPr lang="zh-CN" altLang="en-US" sz="1400" dirty="0"/>
              <a:t>函数调用调用 </a:t>
            </a:r>
            <a:r>
              <a:rPr lang="en-US" altLang="zh-CN" sz="1400" dirty="0" err="1"/>
              <a:t>PushMainMenu</a:t>
            </a:r>
            <a:r>
              <a:rPr lang="en-US" altLang="zh-CN" sz="1400" dirty="0"/>
              <a:t>`</a:t>
            </a:r>
            <a:r>
              <a:rPr lang="zh-CN" altLang="en-US" sz="1400" dirty="0"/>
              <a:t>函数，并返回</a:t>
            </a:r>
            <a:r>
              <a:rPr lang="en-US" altLang="zh-CN" sz="1400" dirty="0"/>
              <a:t>Handled()</a:t>
            </a:r>
            <a:r>
              <a:rPr lang="zh-CN" altLang="en-US" sz="1400" dirty="0"/>
              <a:t>表示已处理。</a:t>
            </a:r>
            <a:endParaRPr lang="en-US" altLang="zh-CN" sz="1400" dirty="0"/>
          </a:p>
        </p:txBody>
      </p:sp>
      <p:sp>
        <p:nvSpPr>
          <p:cNvPr id="37" name="标题 1">
            <a:extLst>
              <a:ext uri="{FF2B5EF4-FFF2-40B4-BE49-F238E27FC236}">
                <a16:creationId xmlns:a16="http://schemas.microsoft.com/office/drawing/2014/main" id="{D16F3C44-3D9B-622E-98C9-D5ED7CA4122A}"/>
              </a:ext>
            </a:extLst>
          </p:cNvPr>
          <p:cNvSpPr txBox="1">
            <a:spLocks/>
          </p:cNvSpPr>
          <p:nvPr/>
        </p:nvSpPr>
        <p:spPr>
          <a:xfrm>
            <a:off x="400937" y="2721372"/>
            <a:ext cx="3682442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UWidget_ActivatableBase</a:t>
            </a:r>
            <a:endParaRPr lang="en-US" altLang="zh-CN" sz="20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092205B-BB9E-3590-DB5C-2FE7F33DA6FD}"/>
              </a:ext>
            </a:extLst>
          </p:cNvPr>
          <p:cNvSpPr txBox="1"/>
          <p:nvPr/>
        </p:nvSpPr>
        <p:spPr>
          <a:xfrm>
            <a:off x="745298" y="3101329"/>
            <a:ext cx="6951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新增弱对象指针</a:t>
            </a:r>
            <a:r>
              <a:rPr lang="en-US" altLang="zh-CN" sz="1400" dirty="0" err="1"/>
              <a:t>CachedOwningFrontendPC</a:t>
            </a:r>
            <a:r>
              <a:rPr lang="zh-CN" altLang="en-US" sz="1400" dirty="0"/>
              <a:t>缓存控制器对象。</a:t>
            </a:r>
            <a:endParaRPr lang="en-US" altLang="zh-CN" sz="1400" dirty="0"/>
          </a:p>
          <a:p>
            <a:r>
              <a:rPr lang="zh-CN" altLang="en-US" sz="1400" dirty="0"/>
              <a:t>新增</a:t>
            </a:r>
            <a:r>
              <a:rPr lang="en-US" altLang="zh-CN" sz="1400" dirty="0" err="1"/>
              <a:t>GetOwningFrontendPlayerController</a:t>
            </a:r>
            <a:r>
              <a:rPr lang="zh-CN" altLang="en-US" sz="1400" dirty="0"/>
              <a:t>函数获取拥有此控件实例的前端玩家控制器。</a:t>
            </a:r>
            <a:endParaRPr lang="en-US" altLang="zh-CN" sz="1400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2843D854-4D43-7E7C-843F-6A2637223410}"/>
              </a:ext>
            </a:extLst>
          </p:cNvPr>
          <p:cNvSpPr txBox="1">
            <a:spLocks/>
          </p:cNvSpPr>
          <p:nvPr/>
        </p:nvSpPr>
        <p:spPr>
          <a:xfrm>
            <a:off x="400937" y="3614504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 </a:t>
            </a:r>
            <a:r>
              <a:rPr lang="en-US" altLang="zh-CN" sz="1800" b="1" dirty="0" err="1"/>
              <a:t>UFrontendUISubsystem</a:t>
            </a:r>
            <a:endParaRPr lang="en-US" altLang="zh-CN" sz="1800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EDC478-8246-EC0C-E11B-C9B146AF5D03}"/>
              </a:ext>
            </a:extLst>
          </p:cNvPr>
          <p:cNvSpPr txBox="1"/>
          <p:nvPr/>
        </p:nvSpPr>
        <p:spPr>
          <a:xfrm>
            <a:off x="745298" y="3962587"/>
            <a:ext cx="695194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新增</a:t>
            </a:r>
            <a:r>
              <a:rPr lang="en-US" altLang="zh-CN" sz="1400" dirty="0" err="1"/>
              <a:t>FOnButtonDescriptionTextUpdatedDelegate</a:t>
            </a:r>
            <a:r>
              <a:rPr lang="zh-CN" altLang="en-US" sz="1400" dirty="0"/>
              <a:t>委托，传递按钮本身指针和描述文本内容参数。</a:t>
            </a:r>
            <a:endParaRPr lang="en-US" altLang="zh-CN" sz="1400" dirty="0"/>
          </a:p>
          <a:p>
            <a:r>
              <a:rPr lang="zh-CN" altLang="en-US" sz="1400" dirty="0"/>
              <a:t>定义</a:t>
            </a:r>
            <a:r>
              <a:rPr lang="en-US" altLang="zh-CN" sz="1400" dirty="0" err="1"/>
              <a:t>PushConfirmScreenToModalStackAsync</a:t>
            </a:r>
            <a:r>
              <a:rPr lang="zh-CN" altLang="en-US" sz="1400" dirty="0"/>
              <a:t>函数用于将确认屏幕 </a:t>
            </a:r>
            <a:r>
              <a:rPr lang="en-US" altLang="zh-CN" sz="1400" dirty="0"/>
              <a:t>Widget</a:t>
            </a:r>
            <a:r>
              <a:rPr lang="zh-CN" altLang="en-US" sz="1400" dirty="0"/>
              <a:t>异步</a:t>
            </a:r>
            <a:r>
              <a:rPr lang="en-US" altLang="zh-CN" sz="1400" dirty="0"/>
              <a:t> </a:t>
            </a:r>
            <a:r>
              <a:rPr lang="zh-CN" altLang="en-US" sz="1400" dirty="0"/>
              <a:t>推送到 模态堆栈（</a:t>
            </a:r>
            <a:r>
              <a:rPr lang="en-US" altLang="zh-CN" sz="1400" dirty="0"/>
              <a:t>Modal Stack</a:t>
            </a:r>
            <a:r>
              <a:rPr lang="zh-CN" altLang="en-US" sz="1400" dirty="0"/>
              <a:t>）上。</a:t>
            </a:r>
            <a:endParaRPr lang="en-US" altLang="zh-CN" sz="1400" dirty="0"/>
          </a:p>
          <a:p>
            <a:endParaRPr lang="zh-CN" altLang="en-US" sz="1400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30E34270-1F7C-6D28-FC9B-C0F7DAF56C27}"/>
              </a:ext>
            </a:extLst>
          </p:cNvPr>
          <p:cNvSpPr txBox="1">
            <a:spLocks/>
          </p:cNvSpPr>
          <p:nvPr/>
        </p:nvSpPr>
        <p:spPr>
          <a:xfrm>
            <a:off x="594985" y="4962561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 </a:t>
            </a:r>
            <a:r>
              <a:rPr lang="en-US" altLang="zh-CN" sz="1800" b="1" dirty="0" err="1"/>
              <a:t>WBP_Text_ButtonDescription</a:t>
            </a:r>
            <a:endParaRPr lang="en-US" altLang="zh-CN" sz="1800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36DDCE-802F-1B83-4896-1EFC584BA058}"/>
              </a:ext>
            </a:extLst>
          </p:cNvPr>
          <p:cNvSpPr txBox="1"/>
          <p:nvPr/>
        </p:nvSpPr>
        <p:spPr>
          <a:xfrm>
            <a:off x="745298" y="5461510"/>
            <a:ext cx="69519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Construct</a:t>
            </a:r>
            <a:r>
              <a:rPr lang="zh-CN" altLang="en-US" sz="1400" dirty="0"/>
              <a:t>函数构造时默认清除文本。</a:t>
            </a:r>
            <a:endParaRPr lang="en-US" altLang="zh-CN" sz="1400" dirty="0"/>
          </a:p>
          <a:p>
            <a:r>
              <a:rPr lang="en-US" altLang="zh-CN" sz="1400" dirty="0" err="1"/>
              <a:t>OnInitialized</a:t>
            </a:r>
            <a:r>
              <a:rPr lang="en-US" altLang="zh-CN" sz="1400" dirty="0"/>
              <a:t>()</a:t>
            </a:r>
            <a:r>
              <a:rPr lang="zh-CN" altLang="en-US" sz="1400" dirty="0"/>
              <a:t>函数调用</a:t>
            </a:r>
            <a:r>
              <a:rPr lang="en-US" altLang="zh-CN" sz="1400" dirty="0"/>
              <a:t>Get Front End UI Subsystem</a:t>
            </a:r>
            <a:r>
              <a:rPr lang="zh-CN" altLang="en-US" sz="1400" dirty="0"/>
              <a:t>绑定委托。</a:t>
            </a:r>
            <a:endParaRPr lang="en-US" altLang="zh-CN" sz="1400" dirty="0"/>
          </a:p>
          <a:p>
            <a:r>
              <a:rPr lang="en-US" altLang="zh-CN" sz="1400" dirty="0" err="1"/>
              <a:t>OnButtonDescriptionTextUpdated</a:t>
            </a:r>
            <a:r>
              <a:rPr lang="en-US" altLang="zh-CN" sz="1400" dirty="0"/>
              <a:t>()</a:t>
            </a:r>
            <a:r>
              <a:rPr lang="zh-CN" altLang="en-US" sz="1400" dirty="0"/>
              <a:t>回调函数用来设置文本。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788361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A84BA-4664-350F-7099-E88329AC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0637EB-165D-68D4-000D-2F8EB9DC0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DD3D943C-AF91-5273-3AA9-6BA2CDEF0418}"/>
              </a:ext>
            </a:extLst>
          </p:cNvPr>
          <p:cNvSpPr txBox="1">
            <a:spLocks/>
          </p:cNvSpPr>
          <p:nvPr/>
        </p:nvSpPr>
        <p:spPr>
          <a:xfrm>
            <a:off x="594986" y="807929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UWidget_ConfirmScreen</a:t>
            </a:r>
            <a:endParaRPr lang="en-US" altLang="zh-CN" sz="2000" b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054A99-CF87-963D-5BAA-D147058696DB}"/>
              </a:ext>
            </a:extLst>
          </p:cNvPr>
          <p:cNvSpPr txBox="1"/>
          <p:nvPr/>
        </p:nvSpPr>
        <p:spPr>
          <a:xfrm>
            <a:off x="745298" y="1156012"/>
            <a:ext cx="69519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定义了</a:t>
            </a:r>
            <a:r>
              <a:rPr lang="en-US" altLang="zh-CN" sz="1400" dirty="0" err="1"/>
              <a:t>CommonTextBlock_Title</a:t>
            </a:r>
            <a:r>
              <a:rPr lang="zh-CN" altLang="en-US" sz="1400" dirty="0"/>
              <a:t>绑定屏幕的标题文本块。</a:t>
            </a:r>
            <a:r>
              <a:rPr lang="en-US" altLang="zh-CN" sz="1400" dirty="0" err="1"/>
              <a:t>CommonTextBlock_Message</a:t>
            </a:r>
            <a:r>
              <a:rPr lang="zh-CN" altLang="en-US" sz="1400" dirty="0"/>
              <a:t>绑定屏幕的消息文本块。</a:t>
            </a:r>
            <a:r>
              <a:rPr lang="en-US" altLang="zh-CN" sz="1400" dirty="0" err="1"/>
              <a:t>DynamicEntryBox_Buttons</a:t>
            </a:r>
            <a:r>
              <a:rPr lang="zh-CN" altLang="en-US" sz="1400" dirty="0"/>
              <a:t>绑定一个动态容器，用于在运行时动态插入按钮。</a:t>
            </a:r>
            <a:endParaRPr lang="en-US" altLang="zh-CN" sz="1400" dirty="0"/>
          </a:p>
          <a:p>
            <a:endParaRPr lang="en-US" altLang="zh-CN" sz="1400" dirty="0"/>
          </a:p>
        </p:txBody>
      </p:sp>
      <p:sp>
        <p:nvSpPr>
          <p:cNvPr id="37" name="标题 1">
            <a:extLst>
              <a:ext uri="{FF2B5EF4-FFF2-40B4-BE49-F238E27FC236}">
                <a16:creationId xmlns:a16="http://schemas.microsoft.com/office/drawing/2014/main" id="{6D4A3098-D447-7235-E4C4-40C178A1436E}"/>
              </a:ext>
            </a:extLst>
          </p:cNvPr>
          <p:cNvSpPr txBox="1">
            <a:spLocks/>
          </p:cNvSpPr>
          <p:nvPr/>
        </p:nvSpPr>
        <p:spPr>
          <a:xfrm>
            <a:off x="404569" y="1991823"/>
            <a:ext cx="3682442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b="1" dirty="0"/>
              <a:t>• </a:t>
            </a:r>
            <a:r>
              <a:rPr lang="en-US" altLang="zh-CN" sz="2000" b="1" dirty="0" err="1"/>
              <a:t>FConfirmScreenButtonInfo</a:t>
            </a:r>
            <a:endParaRPr lang="en-US" altLang="zh-CN" sz="20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68E9E60-49CE-C195-EF55-789D70C1F7C9}"/>
              </a:ext>
            </a:extLst>
          </p:cNvPr>
          <p:cNvSpPr txBox="1"/>
          <p:nvPr/>
        </p:nvSpPr>
        <p:spPr>
          <a:xfrm>
            <a:off x="745298" y="2422710"/>
            <a:ext cx="6951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定义按钮信息结构体。存储</a:t>
            </a:r>
            <a:r>
              <a:rPr lang="en-US" altLang="zh-CN" sz="1400" dirty="0" err="1"/>
              <a:t>ConfirmScreenButtonType</a:t>
            </a:r>
            <a:r>
              <a:rPr lang="zh-CN" altLang="en-US" sz="1400" dirty="0"/>
              <a:t>该按钮被点击后返回的 结果类型。</a:t>
            </a:r>
            <a:endParaRPr lang="en-US" altLang="zh-CN" sz="1400" dirty="0"/>
          </a:p>
          <a:p>
            <a:r>
              <a:rPr lang="zh-CN" altLang="en-US" sz="1400" dirty="0"/>
              <a:t>存储</a:t>
            </a:r>
            <a:r>
              <a:rPr lang="en-US" altLang="zh-CN" sz="1400" dirty="0" err="1"/>
              <a:t>ButtonTextToDisplay</a:t>
            </a:r>
            <a:r>
              <a:rPr lang="zh-CN" altLang="en-US" sz="1400" dirty="0"/>
              <a:t>将显示在按钮上的 文本。</a:t>
            </a:r>
            <a:endParaRPr lang="en-US" altLang="zh-CN" sz="1400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0513C353-5880-1E4C-ABD0-DF648692E88A}"/>
              </a:ext>
            </a:extLst>
          </p:cNvPr>
          <p:cNvSpPr txBox="1">
            <a:spLocks/>
          </p:cNvSpPr>
          <p:nvPr/>
        </p:nvSpPr>
        <p:spPr>
          <a:xfrm>
            <a:off x="545891" y="3008480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 </a:t>
            </a:r>
            <a:r>
              <a:rPr lang="en-US" altLang="zh-CN" sz="1800" b="1" dirty="0" err="1"/>
              <a:t>UConfirmScreenInfoObject</a:t>
            </a:r>
            <a:endParaRPr lang="en-US" altLang="zh-CN" sz="1800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FFA5BE4-6B4E-05AF-B785-02BA31684909}"/>
              </a:ext>
            </a:extLst>
          </p:cNvPr>
          <p:cNvSpPr txBox="1"/>
          <p:nvPr/>
        </p:nvSpPr>
        <p:spPr>
          <a:xfrm>
            <a:off x="745298" y="3464360"/>
            <a:ext cx="695194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该类作为运行时存储和构造确认屏幕信息的容器定义在</a:t>
            </a:r>
            <a:r>
              <a:rPr lang="en-US" altLang="zh-CN" sz="1400" dirty="0" err="1"/>
              <a:t>UWidget_ConfirmScreen.h</a:t>
            </a:r>
            <a:r>
              <a:rPr lang="zh-CN" altLang="en-US" sz="1400" dirty="0"/>
              <a:t>。</a:t>
            </a:r>
            <a:endParaRPr lang="en-US" altLang="zh-CN" sz="1400" dirty="0"/>
          </a:p>
          <a:p>
            <a:r>
              <a:rPr lang="zh-CN" altLang="en-US" sz="1400" dirty="0"/>
              <a:t>定义了</a:t>
            </a:r>
            <a:r>
              <a:rPr lang="en-US" altLang="zh-CN" sz="1400" dirty="0" err="1"/>
              <a:t>ScreenTitle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ScreenMessage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AvailableScreenButtons</a:t>
            </a:r>
            <a:r>
              <a:rPr lang="zh-CN" altLang="en-US" sz="1400" dirty="0"/>
              <a:t>。分别存储存储屏幕标题，存储屏幕显示的消息，存储屏幕上所有按钮的信息（即上面定义的结构体数组）。数组中的元素数量决定了屏幕上将动态创建的按钮数量。</a:t>
            </a:r>
            <a:endParaRPr lang="en-US" altLang="zh-CN" sz="1400" dirty="0"/>
          </a:p>
          <a:p>
            <a:r>
              <a:rPr lang="zh-CN" altLang="en-US" sz="1400" dirty="0"/>
              <a:t>并实现静态工厂函数</a:t>
            </a:r>
            <a:r>
              <a:rPr lang="en-US" altLang="zh-CN" sz="1400" dirty="0" err="1"/>
              <a:t>CreateOKScreen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CreateYesNoScreen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CreateOkCancelScreen</a:t>
            </a:r>
            <a:r>
              <a:rPr lang="zh-CN" altLang="en-US" sz="1400" dirty="0"/>
              <a:t>分别用于创建不同的确认屏幕。</a:t>
            </a:r>
            <a:endParaRPr lang="en-US" altLang="zh-CN" sz="1400" dirty="0"/>
          </a:p>
          <a:p>
            <a:r>
              <a:rPr lang="en-US" altLang="zh-CN" sz="1400" dirty="0" err="1"/>
              <a:t>InitConfirmScreen</a:t>
            </a:r>
            <a:r>
              <a:rPr lang="zh-CN" altLang="en-US" sz="1400" dirty="0"/>
              <a:t>函数在确认屏幕 </a:t>
            </a:r>
            <a:r>
              <a:rPr lang="en-US" altLang="zh-CN" sz="1400" dirty="0"/>
              <a:t>Widget </a:t>
            </a:r>
            <a:r>
              <a:rPr lang="zh-CN" altLang="en-US" sz="1400" dirty="0"/>
              <a:t>被激活并显示之前被调用，负责根据传入的配置对象 </a:t>
            </a:r>
            <a:r>
              <a:rPr lang="en-US" altLang="zh-CN" sz="1400" dirty="0"/>
              <a:t>(</a:t>
            </a:r>
            <a:r>
              <a:rPr lang="en-US" altLang="zh-CN" sz="1400" dirty="0" err="1"/>
              <a:t>UConfirmScreenInfoObject</a:t>
            </a:r>
            <a:r>
              <a:rPr lang="en-US" altLang="zh-CN" sz="1400" dirty="0"/>
              <a:t>) </a:t>
            </a:r>
            <a:r>
              <a:rPr lang="zh-CN" altLang="en-US" sz="1400" dirty="0"/>
              <a:t>完成所有设置工作。</a:t>
            </a:r>
            <a:endParaRPr lang="en-US" altLang="zh-CN" sz="1400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AD6FDDD3-15D9-D31E-B6FC-55B6D78E137F}"/>
              </a:ext>
            </a:extLst>
          </p:cNvPr>
          <p:cNvSpPr txBox="1">
            <a:spLocks/>
          </p:cNvSpPr>
          <p:nvPr/>
        </p:nvSpPr>
        <p:spPr>
          <a:xfrm>
            <a:off x="545890" y="5481681"/>
            <a:ext cx="3774497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/>
              <a:t>• </a:t>
            </a:r>
            <a:r>
              <a:rPr lang="en-US" altLang="zh-CN" sz="1800" b="1" dirty="0" err="1"/>
              <a:t>UAsyncAction_PushConfirmScreen</a:t>
            </a:r>
            <a:endParaRPr lang="en-US" altLang="zh-CN" sz="18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6010503-9E53-A8AE-ABD2-6EE5E9099110}"/>
              </a:ext>
            </a:extLst>
          </p:cNvPr>
          <p:cNvSpPr txBox="1"/>
          <p:nvPr/>
        </p:nvSpPr>
        <p:spPr>
          <a:xfrm>
            <a:off x="745298" y="5860227"/>
            <a:ext cx="69519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主要作用是作为一个 </a:t>
            </a:r>
            <a:r>
              <a:rPr lang="zh-CN" altLang="en-US" sz="1400" b="1" dirty="0"/>
              <a:t>蓝图友好</a:t>
            </a:r>
            <a:r>
              <a:rPr lang="zh-CN" altLang="en-US" sz="1400" dirty="0"/>
              <a:t> 的异步操作节点（</a:t>
            </a:r>
            <a:r>
              <a:rPr lang="en-US" altLang="zh-CN" sz="1400" dirty="0"/>
              <a:t>Blueprint Async Action</a:t>
            </a:r>
            <a:r>
              <a:rPr lang="zh-CN" altLang="en-US" sz="1400" dirty="0"/>
              <a:t>），用于将确认屏幕（</a:t>
            </a:r>
            <a:r>
              <a:rPr lang="en-US" altLang="zh-CN" sz="1400" dirty="0"/>
              <a:t>Confirm Screen</a:t>
            </a:r>
            <a:r>
              <a:rPr lang="zh-CN" altLang="en-US" sz="1400" dirty="0"/>
              <a:t>）异步推送到 </a:t>
            </a:r>
            <a:r>
              <a:rPr lang="en-US" altLang="zh-CN" sz="1400" dirty="0"/>
              <a:t>UI </a:t>
            </a:r>
            <a:r>
              <a:rPr lang="zh-CN" altLang="en-US" sz="1400" dirty="0"/>
              <a:t>模态堆栈，并提供一个 </a:t>
            </a:r>
            <a:r>
              <a:rPr lang="zh-CN" altLang="en-US" sz="1400" b="1" dirty="0"/>
              <a:t>可连接的事件引脚</a:t>
            </a:r>
            <a:r>
              <a:rPr lang="zh-CN" altLang="en-US" sz="1400" dirty="0"/>
              <a:t> </a:t>
            </a:r>
            <a:r>
              <a:rPr lang="en-US" altLang="zh-CN" sz="1400" dirty="0"/>
              <a:t>(Blueprint Assignable Delegate) </a:t>
            </a:r>
            <a:r>
              <a:rPr lang="zh-CN" altLang="en-US" sz="1400" dirty="0"/>
              <a:t>来接收用户点击按钮的结果。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4196147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90440-1338-04F3-A4FC-85BCE437C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B8F660-D924-4DA1-8610-EFD534A503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7224" y="227022"/>
            <a:ext cx="2115995" cy="632539"/>
          </a:xfrm>
        </p:spPr>
        <p:txBody>
          <a:bodyPr>
            <a:normAutofit fontScale="90000"/>
          </a:bodyPr>
          <a:lstStyle/>
          <a:p>
            <a:r>
              <a:rPr lang="zh-CN" altLang="en-US" sz="4000" dirty="0"/>
              <a:t>类的功能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516CB4D4-F6AF-788A-56D6-E590962214D1}"/>
              </a:ext>
            </a:extLst>
          </p:cNvPr>
          <p:cNvSpPr txBox="1">
            <a:spLocks/>
          </p:cNvSpPr>
          <p:nvPr/>
        </p:nvSpPr>
        <p:spPr>
          <a:xfrm>
            <a:off x="594985" y="807929"/>
            <a:ext cx="4075205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zh-CN" sz="2000" b="1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B4928ACD-AF24-89D5-EA60-9E8627886CDD}"/>
              </a:ext>
            </a:extLst>
          </p:cNvPr>
          <p:cNvSpPr txBox="1">
            <a:spLocks/>
          </p:cNvSpPr>
          <p:nvPr/>
        </p:nvSpPr>
        <p:spPr>
          <a:xfrm>
            <a:off x="459974" y="3479930"/>
            <a:ext cx="3206663" cy="3480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800" b="1" dirty="0">
                <a:latin typeface="+mj-ea"/>
              </a:rPr>
              <a:t>• </a:t>
            </a:r>
            <a:r>
              <a:rPr lang="en-US" altLang="zh-CN" sz="1800" b="1" dirty="0" err="1"/>
              <a:t>WBP_CAW_StoryScreen</a:t>
            </a:r>
            <a:endParaRPr lang="en-US" altLang="zh-CN" sz="1800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5D32554-8A47-E589-B679-5B88D5695606}"/>
              </a:ext>
            </a:extLst>
          </p:cNvPr>
          <p:cNvSpPr txBox="1"/>
          <p:nvPr/>
        </p:nvSpPr>
        <p:spPr>
          <a:xfrm>
            <a:off x="745298" y="3998489"/>
            <a:ext cx="6951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创建并集成 故事屏幕</a:t>
            </a:r>
            <a:endParaRPr lang="en-US" altLang="zh-CN" sz="1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25F906-CF6F-B8F6-ACCF-E3163CE4BED3}"/>
              </a:ext>
            </a:extLst>
          </p:cNvPr>
          <p:cNvSpPr txBox="1"/>
          <p:nvPr/>
        </p:nvSpPr>
        <p:spPr>
          <a:xfrm>
            <a:off x="745298" y="859561"/>
            <a:ext cx="6097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+mj-ea"/>
                <a:ea typeface="+mj-ea"/>
              </a:rPr>
              <a:t>• </a:t>
            </a:r>
            <a:r>
              <a:rPr lang="zh-CN" altLang="en-US" b="1" dirty="0">
                <a:latin typeface="+mj-ea"/>
                <a:ea typeface="+mj-ea"/>
              </a:rPr>
              <a:t>WBP_CAW_MainMenu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EB8C69-21ED-0976-DF70-365742B88714}"/>
              </a:ext>
            </a:extLst>
          </p:cNvPr>
          <p:cNvSpPr txBox="1"/>
          <p:nvPr/>
        </p:nvSpPr>
        <p:spPr>
          <a:xfrm>
            <a:off x="745298" y="1230490"/>
            <a:ext cx="69519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OnButtonClicked_Quit</a:t>
            </a:r>
            <a:r>
              <a:rPr lang="en-US" altLang="zh-CN" sz="1400" dirty="0"/>
              <a:t>()</a:t>
            </a:r>
            <a:r>
              <a:rPr lang="zh-CN" altLang="en-US" sz="1400" dirty="0"/>
              <a:t>函数中使用</a:t>
            </a:r>
            <a:r>
              <a:rPr lang="en-US" altLang="zh-CN" sz="1400" dirty="0" err="1"/>
              <a:t>PushConfirmScreen</a:t>
            </a:r>
            <a:r>
              <a:rPr lang="zh-CN" altLang="en-US" sz="1400" dirty="0"/>
              <a:t>函数将确认屏幕（</a:t>
            </a:r>
            <a:r>
              <a:rPr lang="en-US" altLang="zh-CN" sz="1400" dirty="0"/>
              <a:t>Confirm Screen</a:t>
            </a:r>
            <a:r>
              <a:rPr lang="zh-CN" altLang="en-US" sz="1400" dirty="0"/>
              <a:t>）异步推送。</a:t>
            </a:r>
            <a:endParaRPr lang="en-US" altLang="zh-CN" sz="1400" dirty="0"/>
          </a:p>
          <a:p>
            <a:r>
              <a:rPr lang="en-US" altLang="zh-CN" sz="1400" dirty="0" err="1"/>
              <a:t>OnButtonClicked_Story</a:t>
            </a:r>
            <a:r>
              <a:rPr lang="en-US" altLang="zh-CN" sz="1400" dirty="0"/>
              <a:t>()</a:t>
            </a:r>
            <a:r>
              <a:rPr lang="zh-CN" altLang="en-US" sz="1400" dirty="0"/>
              <a:t>函数使用</a:t>
            </a:r>
            <a:r>
              <a:rPr lang="en-US" altLang="zh-CN" sz="1400" dirty="0" err="1"/>
              <a:t>PushConfirmScreen</a:t>
            </a:r>
            <a:r>
              <a:rPr lang="zh-CN" altLang="en-US" sz="1400" dirty="0"/>
              <a:t>函数将</a:t>
            </a:r>
            <a:r>
              <a:rPr lang="en-US" altLang="zh-CN" sz="1400" dirty="0"/>
              <a:t>Story</a:t>
            </a:r>
            <a:r>
              <a:rPr lang="zh-CN" altLang="en-US" sz="1400" dirty="0"/>
              <a:t>屏幕异步推送。</a:t>
            </a:r>
            <a:endParaRPr lang="en-US" altLang="zh-CN" sz="14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A8C5B8-EC04-AE05-2748-7B09589F7417}"/>
              </a:ext>
            </a:extLst>
          </p:cNvPr>
          <p:cNvSpPr txBox="1"/>
          <p:nvPr/>
        </p:nvSpPr>
        <p:spPr>
          <a:xfrm>
            <a:off x="745298" y="2198484"/>
            <a:ext cx="6097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+mj-ea"/>
              </a:rPr>
              <a:t>• </a:t>
            </a:r>
            <a:r>
              <a:rPr lang="en-US" altLang="zh-CN" b="1" dirty="0" err="1">
                <a:latin typeface="+mj-ea"/>
                <a:ea typeface="+mj-ea"/>
              </a:rPr>
              <a:t>WBP_CAW_ConfirmScreen</a:t>
            </a:r>
            <a:endParaRPr lang="zh-CN" altLang="en-US" b="1" dirty="0"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31D395-051A-D307-184A-AE6B021E44C2}"/>
              </a:ext>
            </a:extLst>
          </p:cNvPr>
          <p:cNvSpPr txBox="1"/>
          <p:nvPr/>
        </p:nvSpPr>
        <p:spPr>
          <a:xfrm>
            <a:off x="745298" y="2722211"/>
            <a:ext cx="6951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配置确认屏幕的蓝图 </a:t>
            </a:r>
            <a:r>
              <a:rPr lang="en-US" altLang="zh-CN" sz="1400" dirty="0"/>
              <a:t>Widget</a:t>
            </a:r>
            <a:r>
              <a:rPr lang="zh-CN" altLang="en-US" sz="1400" dirty="0"/>
              <a:t>并添加到</a:t>
            </a:r>
            <a:r>
              <a:rPr lang="en-US" altLang="zh-CN" sz="1400" dirty="0"/>
              <a:t>Front End Widget Map</a:t>
            </a:r>
            <a:r>
              <a:rPr lang="zh-CN" altLang="en-US" sz="1400" dirty="0"/>
              <a:t>中去。</a:t>
            </a:r>
            <a:r>
              <a:rPr lang="en-US" altLang="zh-CN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142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3667</TotalTime>
  <Words>1921</Words>
  <Application>Microsoft Office PowerPoint</Application>
  <PresentationFormat>宽屏</PresentationFormat>
  <Paragraphs>154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主题​​</vt:lpstr>
      <vt:lpstr>类的设计</vt:lpstr>
      <vt:lpstr>类的设计二</vt:lpstr>
      <vt:lpstr>第一部分:设置好CommonUI</vt:lpstr>
      <vt:lpstr>第一部分:设置好CommonUI</vt:lpstr>
      <vt:lpstr>类的功能</vt:lpstr>
      <vt:lpstr>类的功能</vt:lpstr>
      <vt:lpstr>类的功能</vt:lpstr>
      <vt:lpstr>第二部分:主界面</vt:lpstr>
      <vt:lpstr>第二部分:主界面</vt:lpstr>
      <vt:lpstr>类的功能</vt:lpstr>
      <vt:lpstr>类的功能</vt:lpstr>
      <vt:lpstr>类的功能</vt:lpstr>
      <vt:lpstr>类的功能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Minami Chen</dc:creator>
  <cp:lastModifiedBy>Minami Chen</cp:lastModifiedBy>
  <cp:revision>184</cp:revision>
  <dcterms:created xsi:type="dcterms:W3CDTF">2025-10-30T13:59:28Z</dcterms:created>
  <dcterms:modified xsi:type="dcterms:W3CDTF">2025-12-06T10:20:34Z</dcterms:modified>
</cp:coreProperties>
</file>