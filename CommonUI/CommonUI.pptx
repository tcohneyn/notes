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8" r:id="rId2"/>
    <p:sldId id="256" r:id="rId3"/>
    <p:sldId id="257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2" d="100"/>
          <a:sy n="102" d="100"/>
        </p:scale>
        <p:origin x="176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B4BCCEA-3A0B-C537-E725-A342D6B0F00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A0CE34B5-B1E3-E153-A86F-4F8A8D6C1F4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746B5FD1-627E-CAF0-3B76-F4EF33536E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34B572-3F4B-4F02-BC85-067D30731B0F}" type="datetimeFigureOut">
              <a:rPr lang="zh-CN" altLang="en-US" smtClean="0"/>
              <a:t>2025/11/5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D74EB6F5-F9D4-015D-7EF0-3E02FB59F5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99FA25C4-4455-B582-F261-936D16FC1C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51F5B0-C0A9-4801-A042-5ABD5B7DFCB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281744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FBBD225-D89F-586E-A14C-5F6E7CF271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8EFA71B-A051-1DAC-651F-2D36A80E092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1B60383-1786-755D-3FDE-7742D82FEA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34B572-3F4B-4F02-BC85-067D30731B0F}" type="datetimeFigureOut">
              <a:rPr lang="zh-CN" altLang="en-US" smtClean="0"/>
              <a:t>2025/11/5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A13976B-6A2F-3301-3B02-E6CBB672BD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4511E6CB-FE10-A71B-F548-32FD46E329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51F5B0-C0A9-4801-A042-5ABD5B7DFCB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6981802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84DED78-3628-0DC2-C5DA-1633DA3E12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4E1CFAB7-B5E5-2D97-22EF-5965DCB5807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B1193E76-77D1-E46D-7B56-18D77FD6EC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34B572-3F4B-4F02-BC85-067D30731B0F}" type="datetimeFigureOut">
              <a:rPr lang="zh-CN" altLang="en-US" smtClean="0"/>
              <a:t>2025/11/5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7ED5145-67D8-328C-F97C-11E0BE1A7A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0D713AF0-9A90-544F-6D71-B5F87BC228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51F5B0-C0A9-4801-A042-5ABD5B7DFCB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736466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C01B17E-E8C8-8B9E-E1A3-04CE70FCE9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447F93C3-F726-D022-9207-3D72C3EFF54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E04EE24F-EAA1-1E10-806B-394D8F5A0E9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73916B37-090A-B274-6C39-BBEBA27F4B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34B572-3F4B-4F02-BC85-067D30731B0F}" type="datetimeFigureOut">
              <a:rPr lang="zh-CN" altLang="en-US" smtClean="0"/>
              <a:t>2025/11/5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611B9DC-99C4-F411-EEE9-59E9F470AC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14905C0-9CE1-C666-D7BF-4BE8E27FFF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51F5B0-C0A9-4801-A042-5ABD5B7DFCB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5603238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D574909-3D3D-8AF0-CDE8-5D253753CE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BA6B08DE-1580-94F5-B860-9B849C26D00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2F1B2153-6EF2-F8BA-ED72-CE68259D718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A40C514C-05AF-063E-B721-3E879F334A6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176CECE4-A2CC-5E2F-C72E-68D207E104E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012F5E7F-B3FB-06DB-0588-272B5C6118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34B572-3F4B-4F02-BC85-067D30731B0F}" type="datetimeFigureOut">
              <a:rPr lang="zh-CN" altLang="en-US" smtClean="0"/>
              <a:t>2025/11/5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C4F512DB-442B-C011-03FD-7D812661B9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D4BD76B8-D67F-137F-7626-7859423EA7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51F5B0-C0A9-4801-A042-5ABD5B7DFCB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0645129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1E87717-F233-E547-3B8C-D9F362954A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9BC2714C-5054-A9E6-61E6-09CA843E15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34B572-3F4B-4F02-BC85-067D30731B0F}" type="datetimeFigureOut">
              <a:rPr lang="zh-CN" altLang="en-US" smtClean="0"/>
              <a:t>2025/11/5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3C49328D-6BC9-CDC9-DE0C-B765C8A3F0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A8990407-0287-D42F-BD01-B89F6967A1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51F5B0-C0A9-4801-A042-5ABD5B7DFCB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16768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62F389B5-3E70-8A44-5373-90BE23B11F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34B572-3F4B-4F02-BC85-067D30731B0F}" type="datetimeFigureOut">
              <a:rPr lang="zh-CN" altLang="en-US" smtClean="0"/>
              <a:t>2025/11/5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0EAC016F-6F8F-6C8B-D09B-931D94EDE5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A01D1B21-78EA-1004-2617-FB2E2E6F63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51F5B0-C0A9-4801-A042-5ABD5B7DFCB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6726840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D3D3189-8915-BF9E-A931-5317D46465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9E6BD651-A269-1D37-861B-EFEA31A0242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FC5FBFC9-1A2A-21A6-E3B1-5FBBFF966BA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2A7949F1-6A56-3480-0B81-88F223A310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34B572-3F4B-4F02-BC85-067D30731B0F}" type="datetimeFigureOut">
              <a:rPr lang="zh-CN" altLang="en-US" smtClean="0"/>
              <a:t>2025/11/5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452D6F3D-1964-4C89-3C05-3E9D590F6F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F146211A-E038-CDD7-1348-0A18644A91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51F5B0-C0A9-4801-A042-5ABD5B7DFCB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5961659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D09A6EB-91D5-58BD-93CA-C146B55FFE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7C31EA59-E355-F1AF-9987-7FEE441224B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DCB8DE7E-E474-8C0B-701A-A2CA53A17D2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5E0AB135-D9C5-6A9A-63D3-5EAB9ADC4F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34B572-3F4B-4F02-BC85-067D30731B0F}" type="datetimeFigureOut">
              <a:rPr lang="zh-CN" altLang="en-US" smtClean="0"/>
              <a:t>2025/11/5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4658833-F156-4D9D-955F-0618904DB6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10D1CBF8-0159-AA90-B825-A5E7EFD8F0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51F5B0-C0A9-4801-A042-5ABD5B7DFCB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6482272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27886C8-75BB-FF18-0DFB-49783189E6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EE82597E-857F-6A79-FF7A-218537F8961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9BF2F957-D035-F3FE-0B6E-B7F456101E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34B572-3F4B-4F02-BC85-067D30731B0F}" type="datetimeFigureOut">
              <a:rPr lang="zh-CN" altLang="en-US" smtClean="0"/>
              <a:t>2025/11/5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A355F3FC-3781-3B34-18A2-3817BF9F7C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497C75F-1122-221B-B203-5C7019B66C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51F5B0-C0A9-4801-A042-5ABD5B7DFCB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8477440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D72B5F3A-7B3C-F40B-FD9C-4294FD2E0EC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5C232485-AD59-A1B1-6641-8465D4581C7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0A0F2D91-FEBA-59AF-3C60-077DD6F014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34B572-3F4B-4F02-BC85-067D30731B0F}" type="datetimeFigureOut">
              <a:rPr lang="zh-CN" altLang="en-US" smtClean="0"/>
              <a:t>2025/11/5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D383479D-50BD-52B2-49EC-F91C0ED913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702E0B31-47D3-88BC-774E-9C5E7207E9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51F5B0-C0A9-4801-A042-5ABD5B7DFCB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8860804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9DC110F4-44A9-8DBE-52BB-34078BD64B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29F5746B-F635-61D7-E75B-B0184A24E4F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C2D4C882-8559-A7EA-33F2-1E5BA294E33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834B572-3F4B-4F02-BC85-067D30731B0F}" type="datetimeFigureOut">
              <a:rPr lang="zh-CN" altLang="en-US" smtClean="0"/>
              <a:t>2025/11/5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0614352F-B773-0257-F5D2-FAE2656A969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0512CD34-07AC-318B-3514-90199754692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351F5B0-C0A9-4801-A042-5ABD5B7DFCB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4363338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238103-DEA9-09BC-D9AB-AC1B4B131A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6E1ACF9-E7D9-A48C-6EE0-C6C221091E4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597224" y="227022"/>
            <a:ext cx="2115995" cy="632539"/>
          </a:xfrm>
        </p:spPr>
        <p:txBody>
          <a:bodyPr>
            <a:normAutofit fontScale="90000"/>
          </a:bodyPr>
          <a:lstStyle/>
          <a:p>
            <a:r>
              <a:rPr lang="zh-CN" altLang="en-US" sz="4000" dirty="0"/>
              <a:t>类的设计</a:t>
            </a:r>
          </a:p>
        </p:txBody>
      </p:sp>
      <p:sp>
        <p:nvSpPr>
          <p:cNvPr id="9" name="流程图: 终止 8">
            <a:extLst>
              <a:ext uri="{FF2B5EF4-FFF2-40B4-BE49-F238E27FC236}">
                <a16:creationId xmlns:a16="http://schemas.microsoft.com/office/drawing/2014/main" id="{4BE46E24-7916-925D-0D9C-D55E8C6AFFCD}"/>
              </a:ext>
            </a:extLst>
          </p:cNvPr>
          <p:cNvSpPr/>
          <p:nvPr/>
        </p:nvSpPr>
        <p:spPr>
          <a:xfrm>
            <a:off x="331601" y="1499300"/>
            <a:ext cx="1387366" cy="395715"/>
          </a:xfrm>
          <a:prstGeom prst="flowChartTerminator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100" dirty="0" err="1"/>
              <a:t>APlayerController</a:t>
            </a:r>
            <a:endParaRPr lang="en-US" altLang="zh-CN" sz="1100" dirty="0"/>
          </a:p>
        </p:txBody>
      </p:sp>
      <p:sp>
        <p:nvSpPr>
          <p:cNvPr id="11" name="流程图: 终止 10">
            <a:extLst>
              <a:ext uri="{FF2B5EF4-FFF2-40B4-BE49-F238E27FC236}">
                <a16:creationId xmlns:a16="http://schemas.microsoft.com/office/drawing/2014/main" id="{53D41F82-365C-EF9D-1FE5-9EE59F92173A}"/>
              </a:ext>
            </a:extLst>
          </p:cNvPr>
          <p:cNvSpPr/>
          <p:nvPr/>
        </p:nvSpPr>
        <p:spPr>
          <a:xfrm>
            <a:off x="1890286" y="1499298"/>
            <a:ext cx="1387366" cy="395715"/>
          </a:xfrm>
          <a:prstGeom prst="flowChartTerminator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altLang="zh-CN" sz="1100" dirty="0" err="1"/>
              <a:t>AFrontendPlayerController</a:t>
            </a:r>
            <a:endParaRPr lang="en-US" altLang="zh-CN" sz="1100" dirty="0"/>
          </a:p>
        </p:txBody>
      </p:sp>
      <p:cxnSp>
        <p:nvCxnSpPr>
          <p:cNvPr id="14" name="直接箭头连接符 13">
            <a:extLst>
              <a:ext uri="{FF2B5EF4-FFF2-40B4-BE49-F238E27FC236}">
                <a16:creationId xmlns:a16="http://schemas.microsoft.com/office/drawing/2014/main" id="{E5B7727B-B1E7-B1D3-ACBF-FC44751AD3BC}"/>
              </a:ext>
            </a:extLst>
          </p:cNvPr>
          <p:cNvCxnSpPr>
            <a:stCxn id="9" idx="3"/>
            <a:endCxn id="11" idx="1"/>
          </p:cNvCxnSpPr>
          <p:nvPr/>
        </p:nvCxnSpPr>
        <p:spPr>
          <a:xfrm flipV="1">
            <a:off x="1718967" y="1697156"/>
            <a:ext cx="171319" cy="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8" name="直接箭头连接符 17">
            <a:extLst>
              <a:ext uri="{FF2B5EF4-FFF2-40B4-BE49-F238E27FC236}">
                <a16:creationId xmlns:a16="http://schemas.microsoft.com/office/drawing/2014/main" id="{1CF5DA23-991D-0314-75A0-056C7C7BD49E}"/>
              </a:ext>
            </a:extLst>
          </p:cNvPr>
          <p:cNvCxnSpPr>
            <a:cxnSpLocks/>
            <a:stCxn id="11" idx="3"/>
            <a:endCxn id="24" idx="1"/>
          </p:cNvCxnSpPr>
          <p:nvPr/>
        </p:nvCxnSpPr>
        <p:spPr>
          <a:xfrm>
            <a:off x="3277652" y="1697156"/>
            <a:ext cx="171319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1" name="流程图: 终止 20">
            <a:extLst>
              <a:ext uri="{FF2B5EF4-FFF2-40B4-BE49-F238E27FC236}">
                <a16:creationId xmlns:a16="http://schemas.microsoft.com/office/drawing/2014/main" id="{87AABCDA-CC6B-7585-07B6-7B186A5D0247}"/>
              </a:ext>
            </a:extLst>
          </p:cNvPr>
          <p:cNvSpPr/>
          <p:nvPr/>
        </p:nvSpPr>
        <p:spPr>
          <a:xfrm>
            <a:off x="331601" y="2641776"/>
            <a:ext cx="1387366" cy="395715"/>
          </a:xfrm>
          <a:prstGeom prst="flowChartTerminator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CN" sz="1100" dirty="0" err="1"/>
              <a:t>UGameInstanceSubsystem</a:t>
            </a:r>
            <a:endParaRPr lang="en-US" altLang="zh-CN" sz="1100" dirty="0"/>
          </a:p>
        </p:txBody>
      </p:sp>
      <p:sp>
        <p:nvSpPr>
          <p:cNvPr id="23" name="流程图: 终止 22">
            <a:extLst>
              <a:ext uri="{FF2B5EF4-FFF2-40B4-BE49-F238E27FC236}">
                <a16:creationId xmlns:a16="http://schemas.microsoft.com/office/drawing/2014/main" id="{E936C422-62A9-46E3-1D05-FB62EA99396B}"/>
              </a:ext>
            </a:extLst>
          </p:cNvPr>
          <p:cNvSpPr/>
          <p:nvPr/>
        </p:nvSpPr>
        <p:spPr>
          <a:xfrm>
            <a:off x="1890286" y="2641775"/>
            <a:ext cx="1387366" cy="395715"/>
          </a:xfrm>
          <a:prstGeom prst="flowChartTerminator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altLang="zh-CN" sz="1100" dirty="0" err="1"/>
              <a:t>UFrontendUISubsystem</a:t>
            </a:r>
            <a:endParaRPr lang="en-US" altLang="zh-CN" sz="1100" dirty="0"/>
          </a:p>
        </p:txBody>
      </p:sp>
      <p:sp>
        <p:nvSpPr>
          <p:cNvPr id="24" name="矩形: 圆角 23">
            <a:extLst>
              <a:ext uri="{FF2B5EF4-FFF2-40B4-BE49-F238E27FC236}">
                <a16:creationId xmlns:a16="http://schemas.microsoft.com/office/drawing/2014/main" id="{517FF410-D3A5-8AB6-4806-2EDB6E2379FC}"/>
              </a:ext>
            </a:extLst>
          </p:cNvPr>
          <p:cNvSpPr/>
          <p:nvPr/>
        </p:nvSpPr>
        <p:spPr>
          <a:xfrm>
            <a:off x="3448971" y="1499298"/>
            <a:ext cx="1387367" cy="395715"/>
          </a:xfrm>
          <a:prstGeom prst="roundRect">
            <a:avLst>
              <a:gd name="adj" fmla="val 15977"/>
            </a:avLst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100" dirty="0" err="1"/>
              <a:t>BP_FrontendController</a:t>
            </a:r>
            <a:endParaRPr lang="en-US" altLang="zh-CN" sz="1100" dirty="0"/>
          </a:p>
        </p:txBody>
      </p:sp>
      <p:cxnSp>
        <p:nvCxnSpPr>
          <p:cNvPr id="32" name="直接箭头连接符 31">
            <a:extLst>
              <a:ext uri="{FF2B5EF4-FFF2-40B4-BE49-F238E27FC236}">
                <a16:creationId xmlns:a16="http://schemas.microsoft.com/office/drawing/2014/main" id="{93AA32CD-8798-999E-1AED-8E57B474491B}"/>
              </a:ext>
            </a:extLst>
          </p:cNvPr>
          <p:cNvCxnSpPr>
            <a:cxnSpLocks/>
            <a:stCxn id="21" idx="3"/>
            <a:endCxn id="23" idx="1"/>
          </p:cNvCxnSpPr>
          <p:nvPr/>
        </p:nvCxnSpPr>
        <p:spPr>
          <a:xfrm flipV="1">
            <a:off x="1718967" y="2839633"/>
            <a:ext cx="171319" cy="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4" name="文本框 33">
            <a:extLst>
              <a:ext uri="{FF2B5EF4-FFF2-40B4-BE49-F238E27FC236}">
                <a16:creationId xmlns:a16="http://schemas.microsoft.com/office/drawing/2014/main" id="{5052F073-8CB8-C9AA-C8CB-5224ACDF3A3B}"/>
              </a:ext>
            </a:extLst>
          </p:cNvPr>
          <p:cNvSpPr txBox="1"/>
          <p:nvPr/>
        </p:nvSpPr>
        <p:spPr>
          <a:xfrm>
            <a:off x="3448971" y="2641775"/>
            <a:ext cx="65006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solidFill>
                  <a:srgbClr val="FF0000"/>
                </a:solidFill>
              </a:rPr>
              <a:t>单例</a:t>
            </a:r>
          </a:p>
        </p:txBody>
      </p:sp>
      <p:sp>
        <p:nvSpPr>
          <p:cNvPr id="3" name="流程图: 终止 2">
            <a:extLst>
              <a:ext uri="{FF2B5EF4-FFF2-40B4-BE49-F238E27FC236}">
                <a16:creationId xmlns:a16="http://schemas.microsoft.com/office/drawing/2014/main" id="{2FB2A5B8-8262-A809-7D46-23BAD4302972}"/>
              </a:ext>
            </a:extLst>
          </p:cNvPr>
          <p:cNvSpPr/>
          <p:nvPr/>
        </p:nvSpPr>
        <p:spPr>
          <a:xfrm>
            <a:off x="331601" y="3586393"/>
            <a:ext cx="1387366" cy="395715"/>
          </a:xfrm>
          <a:prstGeom prst="flowChartTerminator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CN" sz="1100" dirty="0" err="1"/>
              <a:t>UCommonUserWidget</a:t>
            </a:r>
            <a:endParaRPr lang="en-US" altLang="zh-CN" sz="1100" dirty="0"/>
          </a:p>
        </p:txBody>
      </p:sp>
      <p:sp>
        <p:nvSpPr>
          <p:cNvPr id="4" name="流程图: 终止 3">
            <a:extLst>
              <a:ext uri="{FF2B5EF4-FFF2-40B4-BE49-F238E27FC236}">
                <a16:creationId xmlns:a16="http://schemas.microsoft.com/office/drawing/2014/main" id="{4DA7DDFB-6447-23F4-C325-68FA19DEB1A7}"/>
              </a:ext>
            </a:extLst>
          </p:cNvPr>
          <p:cNvSpPr/>
          <p:nvPr/>
        </p:nvSpPr>
        <p:spPr>
          <a:xfrm>
            <a:off x="1890286" y="3586392"/>
            <a:ext cx="1387366" cy="395715"/>
          </a:xfrm>
          <a:prstGeom prst="flowChartTerminator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altLang="zh-CN" sz="1100" dirty="0" err="1"/>
              <a:t>UWidget_PrimaryLayout</a:t>
            </a:r>
            <a:endParaRPr lang="en-US" altLang="zh-CN" sz="1100" dirty="0"/>
          </a:p>
        </p:txBody>
      </p:sp>
      <p:cxnSp>
        <p:nvCxnSpPr>
          <p:cNvPr id="5" name="直接箭头连接符 4">
            <a:extLst>
              <a:ext uri="{FF2B5EF4-FFF2-40B4-BE49-F238E27FC236}">
                <a16:creationId xmlns:a16="http://schemas.microsoft.com/office/drawing/2014/main" id="{A8B02CA5-7AEA-BFA9-200C-9CA30E6EBDF0}"/>
              </a:ext>
            </a:extLst>
          </p:cNvPr>
          <p:cNvCxnSpPr>
            <a:cxnSpLocks/>
            <a:stCxn id="3" idx="3"/>
            <a:endCxn id="4" idx="1"/>
          </p:cNvCxnSpPr>
          <p:nvPr/>
        </p:nvCxnSpPr>
        <p:spPr>
          <a:xfrm flipV="1">
            <a:off x="1718967" y="3784250"/>
            <a:ext cx="171319" cy="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" name="流程图: 终止 5">
            <a:extLst>
              <a:ext uri="{FF2B5EF4-FFF2-40B4-BE49-F238E27FC236}">
                <a16:creationId xmlns:a16="http://schemas.microsoft.com/office/drawing/2014/main" id="{492C516E-1D01-EAA7-86F5-C16B9F128A29}"/>
              </a:ext>
            </a:extLst>
          </p:cNvPr>
          <p:cNvSpPr/>
          <p:nvPr/>
        </p:nvSpPr>
        <p:spPr>
          <a:xfrm>
            <a:off x="1890286" y="4615614"/>
            <a:ext cx="1387366" cy="395715"/>
          </a:xfrm>
          <a:prstGeom prst="flowChartTerminator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altLang="zh-CN" sz="1100" dirty="0" err="1"/>
              <a:t>UCommonActivatableWidget</a:t>
            </a:r>
            <a:endParaRPr lang="en-US" altLang="zh-CN" sz="1100" dirty="0"/>
          </a:p>
        </p:txBody>
      </p:sp>
      <p:cxnSp>
        <p:nvCxnSpPr>
          <p:cNvPr id="8" name="连接符: 肘形 7">
            <a:extLst>
              <a:ext uri="{FF2B5EF4-FFF2-40B4-BE49-F238E27FC236}">
                <a16:creationId xmlns:a16="http://schemas.microsoft.com/office/drawing/2014/main" id="{7479CA93-2307-4360-FD2A-ED5F45C5A2D9}"/>
              </a:ext>
            </a:extLst>
          </p:cNvPr>
          <p:cNvCxnSpPr>
            <a:cxnSpLocks/>
            <a:stCxn id="3" idx="3"/>
            <a:endCxn id="6" idx="1"/>
          </p:cNvCxnSpPr>
          <p:nvPr/>
        </p:nvCxnSpPr>
        <p:spPr>
          <a:xfrm>
            <a:off x="1718967" y="3784251"/>
            <a:ext cx="171319" cy="1029221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2" name="矩形: 圆角 11">
            <a:extLst>
              <a:ext uri="{FF2B5EF4-FFF2-40B4-BE49-F238E27FC236}">
                <a16:creationId xmlns:a16="http://schemas.microsoft.com/office/drawing/2014/main" id="{FA380C5A-95EF-0A52-2CCB-C106FF18895C}"/>
              </a:ext>
            </a:extLst>
          </p:cNvPr>
          <p:cNvSpPr/>
          <p:nvPr/>
        </p:nvSpPr>
        <p:spPr>
          <a:xfrm>
            <a:off x="3570056" y="4615613"/>
            <a:ext cx="1387367" cy="395715"/>
          </a:xfrm>
          <a:prstGeom prst="roundRect">
            <a:avLst>
              <a:gd name="adj" fmla="val 15977"/>
            </a:avLst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100" dirty="0" err="1"/>
              <a:t>UWidget_ActivatableBase</a:t>
            </a:r>
            <a:endParaRPr lang="en-US" altLang="zh-CN" sz="1100" dirty="0"/>
          </a:p>
        </p:txBody>
      </p:sp>
      <p:cxnSp>
        <p:nvCxnSpPr>
          <p:cNvPr id="15" name="直接箭头连接符 14">
            <a:extLst>
              <a:ext uri="{FF2B5EF4-FFF2-40B4-BE49-F238E27FC236}">
                <a16:creationId xmlns:a16="http://schemas.microsoft.com/office/drawing/2014/main" id="{7BA8BC76-03FF-D621-61B0-7DF365AAF6F0}"/>
              </a:ext>
            </a:extLst>
          </p:cNvPr>
          <p:cNvCxnSpPr>
            <a:stCxn id="6" idx="3"/>
            <a:endCxn id="12" idx="1"/>
          </p:cNvCxnSpPr>
          <p:nvPr/>
        </p:nvCxnSpPr>
        <p:spPr>
          <a:xfrm flipV="1">
            <a:off x="3277652" y="4813471"/>
            <a:ext cx="292404" cy="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6" name="流程图: 终止 15">
            <a:extLst>
              <a:ext uri="{FF2B5EF4-FFF2-40B4-BE49-F238E27FC236}">
                <a16:creationId xmlns:a16="http://schemas.microsoft.com/office/drawing/2014/main" id="{9DA86D9F-6410-7DA1-7920-F30D75AA9701}"/>
              </a:ext>
            </a:extLst>
          </p:cNvPr>
          <p:cNvSpPr/>
          <p:nvPr/>
        </p:nvSpPr>
        <p:spPr>
          <a:xfrm>
            <a:off x="5911011" y="1499296"/>
            <a:ext cx="1387366" cy="395715"/>
          </a:xfrm>
          <a:prstGeom prst="flowChartTerminator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CN" sz="1100" dirty="0" err="1"/>
              <a:t>UDeveloperSettings</a:t>
            </a:r>
            <a:endParaRPr lang="en-US" altLang="zh-CN" sz="1100" dirty="0"/>
          </a:p>
        </p:txBody>
      </p:sp>
      <p:sp>
        <p:nvSpPr>
          <p:cNvPr id="17" name="流程图: 终止 16">
            <a:extLst>
              <a:ext uri="{FF2B5EF4-FFF2-40B4-BE49-F238E27FC236}">
                <a16:creationId xmlns:a16="http://schemas.microsoft.com/office/drawing/2014/main" id="{875154C5-8D79-0D28-4E4F-7307990329F4}"/>
              </a:ext>
            </a:extLst>
          </p:cNvPr>
          <p:cNvSpPr/>
          <p:nvPr/>
        </p:nvSpPr>
        <p:spPr>
          <a:xfrm>
            <a:off x="7641015" y="1499295"/>
            <a:ext cx="1387366" cy="395715"/>
          </a:xfrm>
          <a:prstGeom prst="flowChartTerminator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altLang="zh-CN" sz="1100" dirty="0" err="1"/>
              <a:t>UFrontendDeveloperSettings</a:t>
            </a:r>
            <a:endParaRPr lang="en-US" altLang="zh-CN" sz="1100" dirty="0"/>
          </a:p>
        </p:txBody>
      </p:sp>
      <p:cxnSp>
        <p:nvCxnSpPr>
          <p:cNvPr id="20" name="直接箭头连接符 19">
            <a:extLst>
              <a:ext uri="{FF2B5EF4-FFF2-40B4-BE49-F238E27FC236}">
                <a16:creationId xmlns:a16="http://schemas.microsoft.com/office/drawing/2014/main" id="{B32BC425-E1CE-772F-EDA6-0B8B71924D35}"/>
              </a:ext>
            </a:extLst>
          </p:cNvPr>
          <p:cNvCxnSpPr>
            <a:stCxn id="16" idx="3"/>
            <a:endCxn id="17" idx="1"/>
          </p:cNvCxnSpPr>
          <p:nvPr/>
        </p:nvCxnSpPr>
        <p:spPr>
          <a:xfrm flipV="1">
            <a:off x="7298377" y="1697153"/>
            <a:ext cx="342638" cy="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2" name="流程图: 终止 21">
            <a:extLst>
              <a:ext uri="{FF2B5EF4-FFF2-40B4-BE49-F238E27FC236}">
                <a16:creationId xmlns:a16="http://schemas.microsoft.com/office/drawing/2014/main" id="{17F8273F-76F6-00F7-E853-86C2ECA4CA6D}"/>
              </a:ext>
            </a:extLst>
          </p:cNvPr>
          <p:cNvSpPr/>
          <p:nvPr/>
        </p:nvSpPr>
        <p:spPr>
          <a:xfrm>
            <a:off x="5911011" y="2443917"/>
            <a:ext cx="1387366" cy="395715"/>
          </a:xfrm>
          <a:prstGeom prst="flowChartTerminator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CN" sz="1100" dirty="0" err="1"/>
              <a:t>UBlueprintAsyncActionBase</a:t>
            </a:r>
            <a:endParaRPr lang="en-US" altLang="zh-CN" sz="1100" dirty="0"/>
          </a:p>
        </p:txBody>
      </p:sp>
      <p:sp>
        <p:nvSpPr>
          <p:cNvPr id="25" name="流程图: 终止 24">
            <a:extLst>
              <a:ext uri="{FF2B5EF4-FFF2-40B4-BE49-F238E27FC236}">
                <a16:creationId xmlns:a16="http://schemas.microsoft.com/office/drawing/2014/main" id="{663FCB38-83E5-F472-AB98-31247C52577D}"/>
              </a:ext>
            </a:extLst>
          </p:cNvPr>
          <p:cNvSpPr/>
          <p:nvPr/>
        </p:nvSpPr>
        <p:spPr>
          <a:xfrm>
            <a:off x="7641015" y="2443916"/>
            <a:ext cx="1387366" cy="395715"/>
          </a:xfrm>
          <a:prstGeom prst="flowChartTerminator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altLang="zh-CN" sz="1100" dirty="0" err="1"/>
              <a:t>UAsyncAction_PushSoftWidget</a:t>
            </a:r>
            <a:endParaRPr lang="en-US" altLang="zh-CN" sz="1100" dirty="0"/>
          </a:p>
        </p:txBody>
      </p:sp>
      <p:cxnSp>
        <p:nvCxnSpPr>
          <p:cNvPr id="26" name="直接箭头连接符 25">
            <a:extLst>
              <a:ext uri="{FF2B5EF4-FFF2-40B4-BE49-F238E27FC236}">
                <a16:creationId xmlns:a16="http://schemas.microsoft.com/office/drawing/2014/main" id="{EF2DE6FC-C8F4-F22B-05B6-5A0144A994D8}"/>
              </a:ext>
            </a:extLst>
          </p:cNvPr>
          <p:cNvCxnSpPr>
            <a:stCxn id="22" idx="3"/>
            <a:endCxn id="25" idx="1"/>
          </p:cNvCxnSpPr>
          <p:nvPr/>
        </p:nvCxnSpPr>
        <p:spPr>
          <a:xfrm flipV="1">
            <a:off x="7298377" y="2641774"/>
            <a:ext cx="342638" cy="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7" name="流程图: 终止 26">
            <a:extLst>
              <a:ext uri="{FF2B5EF4-FFF2-40B4-BE49-F238E27FC236}">
                <a16:creationId xmlns:a16="http://schemas.microsoft.com/office/drawing/2014/main" id="{9A4DFDC1-0ED8-21F2-B294-3C5BBE19AB07}"/>
              </a:ext>
            </a:extLst>
          </p:cNvPr>
          <p:cNvSpPr/>
          <p:nvPr/>
        </p:nvSpPr>
        <p:spPr>
          <a:xfrm>
            <a:off x="5911011" y="5759139"/>
            <a:ext cx="1387366" cy="395715"/>
          </a:xfrm>
          <a:prstGeom prst="flowChartTerminator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CN" sz="1100" dirty="0" err="1"/>
              <a:t>FrontendGameplayTags</a:t>
            </a:r>
            <a:endParaRPr lang="en-US" altLang="zh-CN" sz="1100" dirty="0"/>
          </a:p>
        </p:txBody>
      </p:sp>
      <p:sp>
        <p:nvSpPr>
          <p:cNvPr id="28" name="流程图: 终止 27">
            <a:extLst>
              <a:ext uri="{FF2B5EF4-FFF2-40B4-BE49-F238E27FC236}">
                <a16:creationId xmlns:a16="http://schemas.microsoft.com/office/drawing/2014/main" id="{E5BC1793-B6C7-9C6D-E186-9D4659133B60}"/>
              </a:ext>
            </a:extLst>
          </p:cNvPr>
          <p:cNvSpPr/>
          <p:nvPr/>
        </p:nvSpPr>
        <p:spPr>
          <a:xfrm>
            <a:off x="5911011" y="3388538"/>
            <a:ext cx="1387366" cy="395715"/>
          </a:xfrm>
          <a:prstGeom prst="flowChartTerminator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CN" sz="1100" dirty="0" err="1"/>
              <a:t>UBlueprintFunctionLibrary</a:t>
            </a:r>
            <a:endParaRPr lang="en-US" altLang="zh-CN" sz="1100" dirty="0"/>
          </a:p>
        </p:txBody>
      </p:sp>
      <p:sp>
        <p:nvSpPr>
          <p:cNvPr id="29" name="流程图: 终止 28">
            <a:extLst>
              <a:ext uri="{FF2B5EF4-FFF2-40B4-BE49-F238E27FC236}">
                <a16:creationId xmlns:a16="http://schemas.microsoft.com/office/drawing/2014/main" id="{28C173F6-CD5D-C4B4-2350-51A20EB62DC8}"/>
              </a:ext>
            </a:extLst>
          </p:cNvPr>
          <p:cNvSpPr/>
          <p:nvPr/>
        </p:nvSpPr>
        <p:spPr>
          <a:xfrm>
            <a:off x="7641015" y="3388537"/>
            <a:ext cx="1387366" cy="395715"/>
          </a:xfrm>
          <a:prstGeom prst="flowChartTerminator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altLang="zh-CN" sz="1100" dirty="0" err="1"/>
              <a:t>UFrontendFunctionLibrary</a:t>
            </a:r>
            <a:endParaRPr lang="en-US" altLang="zh-CN" sz="1100" dirty="0"/>
          </a:p>
        </p:txBody>
      </p:sp>
      <p:cxnSp>
        <p:nvCxnSpPr>
          <p:cNvPr id="30" name="直接箭头连接符 29">
            <a:extLst>
              <a:ext uri="{FF2B5EF4-FFF2-40B4-BE49-F238E27FC236}">
                <a16:creationId xmlns:a16="http://schemas.microsoft.com/office/drawing/2014/main" id="{6C6D3226-3F7A-6E79-CD9C-2233E4A82086}"/>
              </a:ext>
            </a:extLst>
          </p:cNvPr>
          <p:cNvCxnSpPr>
            <a:stCxn id="28" idx="3"/>
            <a:endCxn id="29" idx="1"/>
          </p:cNvCxnSpPr>
          <p:nvPr/>
        </p:nvCxnSpPr>
        <p:spPr>
          <a:xfrm flipV="1">
            <a:off x="7298377" y="3586395"/>
            <a:ext cx="342638" cy="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1" name="流程图: 终止 30">
            <a:extLst>
              <a:ext uri="{FF2B5EF4-FFF2-40B4-BE49-F238E27FC236}">
                <a16:creationId xmlns:a16="http://schemas.microsoft.com/office/drawing/2014/main" id="{FE63B1E1-0A64-0C7D-A9B9-1BC1257CB37F}"/>
              </a:ext>
            </a:extLst>
          </p:cNvPr>
          <p:cNvSpPr/>
          <p:nvPr/>
        </p:nvSpPr>
        <p:spPr>
          <a:xfrm>
            <a:off x="331601" y="5492437"/>
            <a:ext cx="1387366" cy="395715"/>
          </a:xfrm>
          <a:prstGeom prst="flowChartTerminator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CN" sz="1100" dirty="0" err="1"/>
              <a:t>UUserWidget</a:t>
            </a:r>
            <a:endParaRPr lang="en-US" altLang="zh-CN" sz="1100" dirty="0"/>
          </a:p>
        </p:txBody>
      </p:sp>
      <p:sp>
        <p:nvSpPr>
          <p:cNvPr id="33" name="流程图: 终止 32">
            <a:extLst>
              <a:ext uri="{FF2B5EF4-FFF2-40B4-BE49-F238E27FC236}">
                <a16:creationId xmlns:a16="http://schemas.microsoft.com/office/drawing/2014/main" id="{364DF213-B688-B366-E8BF-B5835F6830D1}"/>
              </a:ext>
            </a:extLst>
          </p:cNvPr>
          <p:cNvSpPr/>
          <p:nvPr/>
        </p:nvSpPr>
        <p:spPr>
          <a:xfrm>
            <a:off x="1890286" y="5492436"/>
            <a:ext cx="1387366" cy="395715"/>
          </a:xfrm>
          <a:prstGeom prst="flowChartTerminator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altLang="zh-CN" sz="1100" dirty="0"/>
              <a:t>WBP_Template_Layout</a:t>
            </a:r>
          </a:p>
        </p:txBody>
      </p:sp>
      <p:cxnSp>
        <p:nvCxnSpPr>
          <p:cNvPr id="35" name="直接箭头连接符 34">
            <a:extLst>
              <a:ext uri="{FF2B5EF4-FFF2-40B4-BE49-F238E27FC236}">
                <a16:creationId xmlns:a16="http://schemas.microsoft.com/office/drawing/2014/main" id="{8AE866A5-A9DA-76F6-85B1-DAF90121B440}"/>
              </a:ext>
            </a:extLst>
          </p:cNvPr>
          <p:cNvCxnSpPr>
            <a:cxnSpLocks/>
            <a:stCxn id="31" idx="3"/>
            <a:endCxn id="33" idx="1"/>
          </p:cNvCxnSpPr>
          <p:nvPr/>
        </p:nvCxnSpPr>
        <p:spPr>
          <a:xfrm flipV="1">
            <a:off x="1718967" y="5690294"/>
            <a:ext cx="171319" cy="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8" name="矩形: 圆角 37">
            <a:extLst>
              <a:ext uri="{FF2B5EF4-FFF2-40B4-BE49-F238E27FC236}">
                <a16:creationId xmlns:a16="http://schemas.microsoft.com/office/drawing/2014/main" id="{AD78B20A-57EF-190B-DBB7-02240BFE5009}"/>
              </a:ext>
            </a:extLst>
          </p:cNvPr>
          <p:cNvSpPr/>
          <p:nvPr/>
        </p:nvSpPr>
        <p:spPr>
          <a:xfrm>
            <a:off x="3570056" y="3580160"/>
            <a:ext cx="1387367" cy="395715"/>
          </a:xfrm>
          <a:prstGeom prst="roundRect">
            <a:avLst>
              <a:gd name="adj" fmla="val 15977"/>
            </a:avLst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100" dirty="0" err="1"/>
              <a:t>WBP_CUW_PrimaryLayout</a:t>
            </a:r>
            <a:endParaRPr lang="en-US" altLang="zh-CN" sz="1100" dirty="0"/>
          </a:p>
        </p:txBody>
      </p:sp>
      <p:cxnSp>
        <p:nvCxnSpPr>
          <p:cNvPr id="40" name="直接箭头连接符 39">
            <a:extLst>
              <a:ext uri="{FF2B5EF4-FFF2-40B4-BE49-F238E27FC236}">
                <a16:creationId xmlns:a16="http://schemas.microsoft.com/office/drawing/2014/main" id="{E7384DB1-CA37-E17A-B5D2-7FA4BFC58494}"/>
              </a:ext>
            </a:extLst>
          </p:cNvPr>
          <p:cNvCxnSpPr>
            <a:stCxn id="4" idx="3"/>
            <a:endCxn id="38" idx="1"/>
          </p:cNvCxnSpPr>
          <p:nvPr/>
        </p:nvCxnSpPr>
        <p:spPr>
          <a:xfrm flipV="1">
            <a:off x="3277652" y="3778018"/>
            <a:ext cx="292404" cy="623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1" name="矩形: 圆角 40">
            <a:extLst>
              <a:ext uri="{FF2B5EF4-FFF2-40B4-BE49-F238E27FC236}">
                <a16:creationId xmlns:a16="http://schemas.microsoft.com/office/drawing/2014/main" id="{B9F9F1C4-29DF-7ADB-40A7-D0EC621F8B02}"/>
              </a:ext>
            </a:extLst>
          </p:cNvPr>
          <p:cNvSpPr/>
          <p:nvPr/>
        </p:nvSpPr>
        <p:spPr>
          <a:xfrm>
            <a:off x="5217327" y="4615613"/>
            <a:ext cx="1387367" cy="395715"/>
          </a:xfrm>
          <a:prstGeom prst="roundRect">
            <a:avLst>
              <a:gd name="adj" fmla="val 15977"/>
            </a:avLst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100" dirty="0" err="1"/>
              <a:t>WBP_CAW_PressAnyKey</a:t>
            </a:r>
            <a:endParaRPr lang="en-US" altLang="zh-CN" sz="1100" dirty="0"/>
          </a:p>
        </p:txBody>
      </p:sp>
      <p:cxnSp>
        <p:nvCxnSpPr>
          <p:cNvPr id="43" name="直接箭头连接符 42">
            <a:extLst>
              <a:ext uri="{FF2B5EF4-FFF2-40B4-BE49-F238E27FC236}">
                <a16:creationId xmlns:a16="http://schemas.microsoft.com/office/drawing/2014/main" id="{15FE6936-6F44-334F-BA7C-403A0B9FA043}"/>
              </a:ext>
            </a:extLst>
          </p:cNvPr>
          <p:cNvCxnSpPr>
            <a:stCxn id="12" idx="3"/>
            <a:endCxn id="41" idx="1"/>
          </p:cNvCxnSpPr>
          <p:nvPr/>
        </p:nvCxnSpPr>
        <p:spPr>
          <a:xfrm>
            <a:off x="4957423" y="4813471"/>
            <a:ext cx="259904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4230024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88A483C-D269-3B0F-739A-C18ACF3338E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233576" y="3032773"/>
            <a:ext cx="7724847" cy="792454"/>
          </a:xfrm>
        </p:spPr>
        <p:txBody>
          <a:bodyPr>
            <a:normAutofit/>
          </a:bodyPr>
          <a:lstStyle/>
          <a:p>
            <a:r>
              <a:rPr lang="zh-CN" altLang="en-US" sz="4000" dirty="0"/>
              <a:t>第一部分</a:t>
            </a:r>
            <a:r>
              <a:rPr lang="en-US" altLang="zh-CN" sz="4000" dirty="0"/>
              <a:t>:</a:t>
            </a:r>
            <a:r>
              <a:rPr lang="zh-CN" altLang="en-US" sz="4000" dirty="0"/>
              <a:t>设置好</a:t>
            </a:r>
            <a:r>
              <a:rPr lang="en-US" altLang="zh-CN" sz="4000" dirty="0" err="1"/>
              <a:t>CommonUI</a:t>
            </a:r>
            <a:endParaRPr lang="zh-CN" altLang="en-US" sz="4000" dirty="0"/>
          </a:p>
        </p:txBody>
      </p:sp>
    </p:spTree>
    <p:extLst>
      <p:ext uri="{BB962C8B-B14F-4D97-AF65-F5344CB8AC3E}">
        <p14:creationId xmlns:p14="http://schemas.microsoft.com/office/powerpoint/2010/main" val="190476605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B5F41A-8247-C726-C26F-CF8C9DDE3F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3567290-D9A3-064D-A955-2BC912D1943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-368395" y="86027"/>
            <a:ext cx="7724847" cy="792454"/>
          </a:xfrm>
        </p:spPr>
        <p:txBody>
          <a:bodyPr>
            <a:normAutofit/>
          </a:bodyPr>
          <a:lstStyle/>
          <a:p>
            <a:r>
              <a:rPr lang="zh-CN" altLang="en-US" sz="4000" dirty="0"/>
              <a:t>第一部分</a:t>
            </a:r>
            <a:r>
              <a:rPr lang="en-US" altLang="zh-CN" sz="4000" dirty="0"/>
              <a:t>:</a:t>
            </a:r>
            <a:r>
              <a:rPr lang="zh-CN" altLang="en-US" sz="4000" dirty="0"/>
              <a:t>设置好</a:t>
            </a:r>
            <a:r>
              <a:rPr lang="en-US" altLang="zh-CN" sz="4000" dirty="0" err="1"/>
              <a:t>CommonUI</a:t>
            </a:r>
            <a:endParaRPr lang="zh-CN" altLang="en-US" sz="4000" dirty="0"/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F7715179-F55E-D2A2-5A71-58BD6EAA00CD}"/>
              </a:ext>
            </a:extLst>
          </p:cNvPr>
          <p:cNvSpPr/>
          <p:nvPr/>
        </p:nvSpPr>
        <p:spPr>
          <a:xfrm>
            <a:off x="364384" y="2041930"/>
            <a:ext cx="2536945" cy="1127531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b="1" dirty="0"/>
              <a:t>Frontend Player Controller</a:t>
            </a:r>
            <a:br>
              <a:rPr lang="en-US" altLang="zh-CN" b="1" dirty="0"/>
            </a:br>
            <a:r>
              <a:rPr lang="zh-CN" altLang="en-US" b="1" dirty="0"/>
              <a:t>（前端玩家控制器）</a:t>
            </a:r>
            <a:endParaRPr lang="en-US" altLang="zh-CN" b="1" dirty="0"/>
          </a:p>
          <a:p>
            <a:pPr algn="ctr"/>
            <a:r>
              <a:rPr lang="en-US" altLang="zh-CN" dirty="0"/>
              <a:t>•</a:t>
            </a:r>
            <a:r>
              <a:rPr lang="zh-CN" altLang="en-US" b="1" dirty="0"/>
              <a:t>设置摄像机视角​</a:t>
            </a:r>
            <a:endParaRPr lang="zh-CN" altLang="en-US" dirty="0"/>
          </a:p>
        </p:txBody>
      </p:sp>
      <p:cxnSp>
        <p:nvCxnSpPr>
          <p:cNvPr id="6" name="直接箭头连接符 5">
            <a:extLst>
              <a:ext uri="{FF2B5EF4-FFF2-40B4-BE49-F238E27FC236}">
                <a16:creationId xmlns:a16="http://schemas.microsoft.com/office/drawing/2014/main" id="{4374EEE4-2061-CB6C-7041-01C30458AC4E}"/>
              </a:ext>
            </a:extLst>
          </p:cNvPr>
          <p:cNvCxnSpPr>
            <a:cxnSpLocks/>
            <a:stCxn id="4" idx="2"/>
          </p:cNvCxnSpPr>
          <p:nvPr/>
        </p:nvCxnSpPr>
        <p:spPr>
          <a:xfrm flipH="1">
            <a:off x="1632856" y="3169461"/>
            <a:ext cx="1" cy="85252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矩形 6">
            <a:extLst>
              <a:ext uri="{FF2B5EF4-FFF2-40B4-BE49-F238E27FC236}">
                <a16:creationId xmlns:a16="http://schemas.microsoft.com/office/drawing/2014/main" id="{4CC774B7-684A-A947-A985-C25FB7D70EDE}"/>
              </a:ext>
            </a:extLst>
          </p:cNvPr>
          <p:cNvSpPr/>
          <p:nvPr/>
        </p:nvSpPr>
        <p:spPr>
          <a:xfrm>
            <a:off x="364384" y="4021984"/>
            <a:ext cx="2536945" cy="112409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b="1" dirty="0"/>
              <a:t>Primary Layout Widget</a:t>
            </a:r>
            <a:br>
              <a:rPr lang="en-US" altLang="zh-CN" b="1" dirty="0"/>
            </a:br>
            <a:r>
              <a:rPr lang="zh-CN" altLang="en-US" b="1" dirty="0"/>
              <a:t>（主布局控件）​</a:t>
            </a:r>
            <a:endParaRPr lang="en-US" altLang="zh-CN" b="1" dirty="0"/>
          </a:p>
          <a:p>
            <a:pPr algn="ctr"/>
            <a:r>
              <a:rPr lang="en-US" altLang="zh-CN" dirty="0"/>
              <a:t>•</a:t>
            </a:r>
            <a:r>
              <a:rPr lang="zh-CN" altLang="en-US" b="1" dirty="0"/>
              <a:t>注册界面栈</a:t>
            </a:r>
            <a:endParaRPr lang="zh-CN" altLang="en-US" dirty="0"/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FAFBCA16-1DF0-0BD0-D0A9-742761492740}"/>
              </a:ext>
            </a:extLst>
          </p:cNvPr>
          <p:cNvSpPr/>
          <p:nvPr/>
        </p:nvSpPr>
        <p:spPr>
          <a:xfrm>
            <a:off x="3324153" y="3708303"/>
            <a:ext cx="2536945" cy="175145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b="1" dirty="0"/>
              <a:t>Frontend UI Subsystem</a:t>
            </a:r>
            <a:br>
              <a:rPr lang="en-US" altLang="zh-CN" b="1" dirty="0"/>
            </a:br>
            <a:r>
              <a:rPr lang="zh-CN" altLang="en-US" b="1" dirty="0"/>
              <a:t>（前端</a:t>
            </a:r>
            <a:r>
              <a:rPr lang="en-US" altLang="zh-CN" b="1" dirty="0"/>
              <a:t>UI</a:t>
            </a:r>
            <a:r>
              <a:rPr lang="zh-CN" altLang="en-US" b="1" dirty="0"/>
              <a:t>子系统）​​</a:t>
            </a:r>
            <a:endParaRPr lang="en-US" altLang="zh-CN" b="1" dirty="0"/>
          </a:p>
          <a:p>
            <a:pPr algn="ctr"/>
            <a:r>
              <a:rPr lang="en-US" altLang="zh-CN" dirty="0"/>
              <a:t>•</a:t>
            </a:r>
            <a:r>
              <a:rPr lang="zh-CN" altLang="en-US" b="1" dirty="0"/>
              <a:t>存储主布局引用</a:t>
            </a:r>
            <a:endParaRPr lang="en-US" altLang="zh-CN" b="1" dirty="0"/>
          </a:p>
          <a:p>
            <a:pPr algn="ctr"/>
            <a:r>
              <a:rPr lang="en-US" altLang="zh-CN" dirty="0"/>
              <a:t>•</a:t>
            </a:r>
            <a:r>
              <a:rPr lang="zh-CN" altLang="en-US" dirty="0"/>
              <a:t>给</a:t>
            </a:r>
            <a:r>
              <a:rPr lang="en-US" altLang="zh-CN" dirty="0" err="1"/>
              <a:t>PushingWidgets</a:t>
            </a:r>
            <a:r>
              <a:rPr lang="zh-CN" altLang="en-US" dirty="0"/>
              <a:t>提供方法</a:t>
            </a:r>
          </a:p>
        </p:txBody>
      </p:sp>
      <p:cxnSp>
        <p:nvCxnSpPr>
          <p:cNvPr id="11" name="直接箭头连接符 10">
            <a:extLst>
              <a:ext uri="{FF2B5EF4-FFF2-40B4-BE49-F238E27FC236}">
                <a16:creationId xmlns:a16="http://schemas.microsoft.com/office/drawing/2014/main" id="{49A8DF4D-780D-9FB3-4AEA-B56BE6877E71}"/>
              </a:ext>
            </a:extLst>
          </p:cNvPr>
          <p:cNvCxnSpPr>
            <a:cxnSpLocks/>
            <a:stCxn id="7" idx="3"/>
            <a:endCxn id="9" idx="1"/>
          </p:cNvCxnSpPr>
          <p:nvPr/>
        </p:nvCxnSpPr>
        <p:spPr>
          <a:xfrm flipV="1">
            <a:off x="2901329" y="4584031"/>
            <a:ext cx="422824" cy="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矩形 15">
            <a:extLst>
              <a:ext uri="{FF2B5EF4-FFF2-40B4-BE49-F238E27FC236}">
                <a16:creationId xmlns:a16="http://schemas.microsoft.com/office/drawing/2014/main" id="{9D7DF74F-4968-9F8B-EA04-F2548F68F90D}"/>
              </a:ext>
            </a:extLst>
          </p:cNvPr>
          <p:cNvSpPr/>
          <p:nvPr/>
        </p:nvSpPr>
        <p:spPr>
          <a:xfrm>
            <a:off x="6330904" y="4021984"/>
            <a:ext cx="2536945" cy="112409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b="1" dirty="0" err="1"/>
              <a:t>BP_FrontendController</a:t>
            </a:r>
            <a:br>
              <a:rPr lang="en-US" altLang="zh-CN" b="1" dirty="0"/>
            </a:br>
            <a:r>
              <a:rPr lang="zh-CN" altLang="en-US" b="1" dirty="0"/>
              <a:t>（前端玩家控制器）​</a:t>
            </a:r>
            <a:endParaRPr lang="en-US" altLang="zh-CN" b="1" dirty="0"/>
          </a:p>
          <a:p>
            <a:pPr algn="ctr"/>
            <a:r>
              <a:rPr lang="en-US" altLang="zh-CN" dirty="0"/>
              <a:t>•</a:t>
            </a:r>
            <a:r>
              <a:rPr lang="zh-CN" altLang="en-US" b="1" dirty="0"/>
              <a:t>推入第一个界面</a:t>
            </a:r>
            <a:endParaRPr lang="zh-CN" altLang="en-US" dirty="0"/>
          </a:p>
        </p:txBody>
      </p:sp>
      <p:cxnSp>
        <p:nvCxnSpPr>
          <p:cNvPr id="19" name="直接箭头连接符 18">
            <a:extLst>
              <a:ext uri="{FF2B5EF4-FFF2-40B4-BE49-F238E27FC236}">
                <a16:creationId xmlns:a16="http://schemas.microsoft.com/office/drawing/2014/main" id="{D0885CEC-9A60-2A8F-A7C3-4A1D1756A883}"/>
              </a:ext>
            </a:extLst>
          </p:cNvPr>
          <p:cNvCxnSpPr>
            <a:stCxn id="9" idx="3"/>
            <a:endCxn id="16" idx="1"/>
          </p:cNvCxnSpPr>
          <p:nvPr/>
        </p:nvCxnSpPr>
        <p:spPr>
          <a:xfrm>
            <a:off x="5861098" y="4584031"/>
            <a:ext cx="469806" cy="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矩形 2">
            <a:extLst>
              <a:ext uri="{FF2B5EF4-FFF2-40B4-BE49-F238E27FC236}">
                <a16:creationId xmlns:a16="http://schemas.microsoft.com/office/drawing/2014/main" id="{CF7D2D26-9DA6-4142-6F52-2F77F49F757E}"/>
              </a:ext>
            </a:extLst>
          </p:cNvPr>
          <p:cNvSpPr/>
          <p:nvPr/>
        </p:nvSpPr>
        <p:spPr>
          <a:xfrm>
            <a:off x="9413311" y="4021984"/>
            <a:ext cx="2678482" cy="112409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 err="1"/>
              <a:t>WBP_CAW_PressAnyKey</a:t>
            </a:r>
            <a:endParaRPr lang="en-US" altLang="zh-CN" dirty="0"/>
          </a:p>
        </p:txBody>
      </p:sp>
      <p:cxnSp>
        <p:nvCxnSpPr>
          <p:cNvPr id="17" name="直接箭头连接符 16">
            <a:extLst>
              <a:ext uri="{FF2B5EF4-FFF2-40B4-BE49-F238E27FC236}">
                <a16:creationId xmlns:a16="http://schemas.microsoft.com/office/drawing/2014/main" id="{0B98FFD5-C7DB-914E-4F9D-A6060A3EAAB8}"/>
              </a:ext>
            </a:extLst>
          </p:cNvPr>
          <p:cNvCxnSpPr>
            <a:cxnSpLocks/>
            <a:stCxn id="16" idx="3"/>
            <a:endCxn id="3" idx="1"/>
          </p:cNvCxnSpPr>
          <p:nvPr/>
        </p:nvCxnSpPr>
        <p:spPr>
          <a:xfrm>
            <a:off x="8867849" y="4584032"/>
            <a:ext cx="545462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0113096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2E64E8-DCD0-96F4-8950-DE05289475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9DAFFD4-ECF8-286B-E940-729E3652E85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597224" y="227022"/>
            <a:ext cx="2115995" cy="632539"/>
          </a:xfrm>
        </p:spPr>
        <p:txBody>
          <a:bodyPr>
            <a:normAutofit fontScale="90000"/>
          </a:bodyPr>
          <a:lstStyle/>
          <a:p>
            <a:r>
              <a:rPr lang="zh-CN" altLang="en-US" sz="4000" dirty="0"/>
              <a:t>类的功能</a:t>
            </a:r>
          </a:p>
        </p:txBody>
      </p:sp>
      <p:sp>
        <p:nvSpPr>
          <p:cNvPr id="7" name="标题 1">
            <a:extLst>
              <a:ext uri="{FF2B5EF4-FFF2-40B4-BE49-F238E27FC236}">
                <a16:creationId xmlns:a16="http://schemas.microsoft.com/office/drawing/2014/main" id="{84ED6F8B-696A-25A9-D808-60D0A93E9FFD}"/>
              </a:ext>
            </a:extLst>
          </p:cNvPr>
          <p:cNvSpPr txBox="1">
            <a:spLocks/>
          </p:cNvSpPr>
          <p:nvPr/>
        </p:nvSpPr>
        <p:spPr>
          <a:xfrm>
            <a:off x="594986" y="807929"/>
            <a:ext cx="3206663" cy="348083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CN" sz="2000" dirty="0"/>
              <a:t>• </a:t>
            </a:r>
            <a:r>
              <a:rPr lang="en-US" altLang="zh-CN" sz="2000" b="1" dirty="0" err="1"/>
              <a:t>AFrontendPlayerController</a:t>
            </a:r>
            <a:endParaRPr lang="zh-CN" altLang="en-US" sz="2000" dirty="0"/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88D650A8-988F-7F5E-384C-F011C851854F}"/>
              </a:ext>
            </a:extLst>
          </p:cNvPr>
          <p:cNvSpPr txBox="1"/>
          <p:nvPr/>
        </p:nvSpPr>
        <p:spPr>
          <a:xfrm>
            <a:off x="745298" y="1156012"/>
            <a:ext cx="6951946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dirty="0" err="1"/>
              <a:t>OnPossess</a:t>
            </a:r>
            <a:r>
              <a:rPr lang="zh-CN" altLang="en-US" sz="1400" dirty="0"/>
              <a:t>函数下用</a:t>
            </a:r>
            <a:r>
              <a:rPr lang="en-US" altLang="zh-CN" sz="1400" dirty="0" err="1"/>
              <a:t>UGameplayStatics</a:t>
            </a:r>
            <a:r>
              <a:rPr lang="en-US" altLang="zh-CN" sz="1400" dirty="0"/>
              <a:t>::</a:t>
            </a:r>
            <a:r>
              <a:rPr lang="en-US" altLang="zh-CN" sz="1400" dirty="0" err="1"/>
              <a:t>GetAllActorsOfClassWithTag</a:t>
            </a:r>
            <a:r>
              <a:rPr lang="zh-CN" altLang="en-US" sz="1400" dirty="0"/>
              <a:t>函数寻找</a:t>
            </a:r>
            <a:r>
              <a:rPr lang="zh-CN" altLang="en-US" sz="1400" i="1" dirty="0"/>
              <a:t>在游戏世界中查找所有具有特定标签（</a:t>
            </a:r>
            <a:r>
              <a:rPr lang="en-US" altLang="zh-CN" sz="1400" i="1" dirty="0"/>
              <a:t>“Default”</a:t>
            </a:r>
            <a:r>
              <a:rPr lang="zh-CN" altLang="en-US" sz="1400" i="1" dirty="0"/>
              <a:t>）的</a:t>
            </a:r>
            <a:r>
              <a:rPr lang="en-US" altLang="zh-CN" sz="1400" i="1" dirty="0" err="1"/>
              <a:t>ACameraActor</a:t>
            </a:r>
            <a:r>
              <a:rPr lang="zh-CN" altLang="en-US" sz="1400" i="1" dirty="0"/>
              <a:t>类实例，再将玩家的视角切换至找到的第一个标记为</a:t>
            </a:r>
            <a:r>
              <a:rPr lang="en-US" altLang="zh-CN" sz="1400" i="1" dirty="0"/>
              <a:t>"Default"</a:t>
            </a:r>
            <a:r>
              <a:rPr lang="zh-CN" altLang="en-US" sz="1400" i="1" dirty="0"/>
              <a:t>的摄像机</a:t>
            </a:r>
            <a:endParaRPr lang="zh-CN" altLang="en-US" sz="1400" dirty="0"/>
          </a:p>
        </p:txBody>
      </p:sp>
      <p:sp>
        <p:nvSpPr>
          <p:cNvPr id="19" name="标题 1">
            <a:extLst>
              <a:ext uri="{FF2B5EF4-FFF2-40B4-BE49-F238E27FC236}">
                <a16:creationId xmlns:a16="http://schemas.microsoft.com/office/drawing/2014/main" id="{5623AFA3-BAE8-3D90-D19C-9D19DD74671C}"/>
              </a:ext>
            </a:extLst>
          </p:cNvPr>
          <p:cNvSpPr txBox="1">
            <a:spLocks/>
          </p:cNvSpPr>
          <p:nvPr/>
        </p:nvSpPr>
        <p:spPr>
          <a:xfrm>
            <a:off x="745298" y="2017085"/>
            <a:ext cx="3100192" cy="348083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CN" sz="1800" dirty="0"/>
              <a:t>• </a:t>
            </a:r>
            <a:r>
              <a:rPr lang="en-US" altLang="zh-CN" sz="2000" b="1" dirty="0" err="1"/>
              <a:t>UWidget_PrimaryLayout</a:t>
            </a:r>
            <a:endParaRPr lang="en-US" altLang="zh-CN" sz="2000" b="1" dirty="0"/>
          </a:p>
        </p:txBody>
      </p:sp>
      <p:sp>
        <p:nvSpPr>
          <p:cNvPr id="36" name="文本框 35">
            <a:extLst>
              <a:ext uri="{FF2B5EF4-FFF2-40B4-BE49-F238E27FC236}">
                <a16:creationId xmlns:a16="http://schemas.microsoft.com/office/drawing/2014/main" id="{A14BDA14-16A0-0225-6643-A9866A05D3DB}"/>
              </a:ext>
            </a:extLst>
          </p:cNvPr>
          <p:cNvSpPr txBox="1"/>
          <p:nvPr/>
        </p:nvSpPr>
        <p:spPr>
          <a:xfrm>
            <a:off x="745298" y="2410702"/>
            <a:ext cx="6951946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 dirty="0"/>
              <a:t>提供</a:t>
            </a:r>
            <a:r>
              <a:rPr lang="en-US" altLang="zh-CN" sz="1400" dirty="0" err="1"/>
              <a:t>FindWidgetStackByTag</a:t>
            </a:r>
            <a:r>
              <a:rPr lang="zh-CN" altLang="en-US" sz="1400" dirty="0"/>
              <a:t>函数</a:t>
            </a:r>
            <a:r>
              <a:rPr lang="zh-CN" altLang="en-US" sz="1400" i="1" dirty="0"/>
              <a:t>根据给定的游戏标签查找并返回对应的可激活控件堆栈。</a:t>
            </a:r>
            <a:endParaRPr lang="zh-CN" altLang="en-US" sz="1400" dirty="0"/>
          </a:p>
          <a:p>
            <a:r>
              <a:rPr lang="zh-CN" altLang="en-US" sz="1400" i="1" dirty="0"/>
              <a:t>此函数用于在运行时快速定位特定的界面堆栈（如设置菜单、库存界面等），以便进行导航或状态管理。</a:t>
            </a:r>
            <a:endParaRPr lang="zh-CN" altLang="en-US" sz="1400" dirty="0"/>
          </a:p>
          <a:p>
            <a:endParaRPr lang="en-US" altLang="zh-CN" sz="1400" dirty="0"/>
          </a:p>
          <a:p>
            <a:r>
              <a:rPr lang="zh-CN" altLang="en-US" sz="1400" dirty="0"/>
              <a:t>提供</a:t>
            </a:r>
            <a:r>
              <a:rPr lang="en-US" altLang="zh-CN" sz="1400" dirty="0" err="1"/>
              <a:t>RegisterWidgetStack</a:t>
            </a:r>
            <a:r>
              <a:rPr lang="zh-CN" altLang="en-US" sz="1400" dirty="0"/>
              <a:t>函数</a:t>
            </a:r>
            <a:r>
              <a:rPr lang="zh-CN" altLang="en-US" sz="1400" i="1" dirty="0"/>
              <a:t>将一个新的可激活控件堆栈注册到管理器中，并将其与特定标签关联。</a:t>
            </a:r>
            <a:endParaRPr lang="zh-CN" altLang="en-US" sz="1400" dirty="0"/>
          </a:p>
          <a:p>
            <a:r>
              <a:rPr lang="zh-CN" altLang="en-US" sz="1400" i="1" dirty="0"/>
              <a:t>此函数通常在界面初始化时调用，用于建立标签与控件堆栈的映射关系，支持后续的动态导航。在子类蓝图类会调用</a:t>
            </a:r>
          </a:p>
        </p:txBody>
      </p:sp>
      <p:sp>
        <p:nvSpPr>
          <p:cNvPr id="37" name="标题 1">
            <a:extLst>
              <a:ext uri="{FF2B5EF4-FFF2-40B4-BE49-F238E27FC236}">
                <a16:creationId xmlns:a16="http://schemas.microsoft.com/office/drawing/2014/main" id="{0B05F208-315E-6847-F56A-D745DF20E93A}"/>
              </a:ext>
            </a:extLst>
          </p:cNvPr>
          <p:cNvSpPr txBox="1">
            <a:spLocks/>
          </p:cNvSpPr>
          <p:nvPr/>
        </p:nvSpPr>
        <p:spPr>
          <a:xfrm>
            <a:off x="594986" y="4252400"/>
            <a:ext cx="3206663" cy="348083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CN" sz="2000" b="1" dirty="0"/>
              <a:t>• </a:t>
            </a:r>
            <a:r>
              <a:rPr lang="en-US" altLang="zh-CN" sz="2000" b="1" dirty="0" err="1"/>
              <a:t>UFrontendUISubsystem</a:t>
            </a:r>
            <a:endParaRPr lang="en-US" altLang="zh-CN" sz="2000" b="1" dirty="0"/>
          </a:p>
        </p:txBody>
      </p:sp>
      <p:sp>
        <p:nvSpPr>
          <p:cNvPr id="44" name="文本框 43">
            <a:extLst>
              <a:ext uri="{FF2B5EF4-FFF2-40B4-BE49-F238E27FC236}">
                <a16:creationId xmlns:a16="http://schemas.microsoft.com/office/drawing/2014/main" id="{AD850621-2ACF-1A12-F705-369A7BE5D8AB}"/>
              </a:ext>
            </a:extLst>
          </p:cNvPr>
          <p:cNvSpPr txBox="1"/>
          <p:nvPr/>
        </p:nvSpPr>
        <p:spPr>
          <a:xfrm>
            <a:off x="745298" y="4742610"/>
            <a:ext cx="6951946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 dirty="0"/>
              <a:t>作为</a:t>
            </a:r>
            <a:r>
              <a:rPr lang="en-US" altLang="zh-CN" sz="1400" dirty="0" err="1"/>
              <a:t>UGameInstanceSubsystem</a:t>
            </a:r>
            <a:r>
              <a:rPr lang="zh-CN" altLang="en-US" sz="1400" dirty="0"/>
              <a:t>的派生类，该子系统生命周期与游戏实例相同，提供了全局可访问的</a:t>
            </a:r>
            <a:r>
              <a:rPr lang="en-US" altLang="zh-CN" sz="1400" dirty="0"/>
              <a:t>UI</a:t>
            </a:r>
            <a:r>
              <a:rPr lang="zh-CN" altLang="en-US" sz="1400" dirty="0"/>
              <a:t>管理功能。</a:t>
            </a:r>
            <a:endParaRPr lang="en-US" altLang="zh-CN" sz="1400" dirty="0"/>
          </a:p>
          <a:p>
            <a:r>
              <a:rPr lang="en-US" altLang="zh-CN" sz="1400" dirty="0"/>
              <a:t>Get</a:t>
            </a:r>
            <a:r>
              <a:rPr lang="zh-CN" altLang="en-US" sz="1400" dirty="0"/>
              <a:t>函数</a:t>
            </a:r>
            <a:r>
              <a:rPr lang="zh-CN" altLang="en-US" sz="1400" i="1" dirty="0"/>
              <a:t>前端</a:t>
            </a:r>
            <a:r>
              <a:rPr lang="en-US" altLang="zh-CN" sz="1400" i="1" dirty="0"/>
              <a:t>UI</a:t>
            </a:r>
            <a:r>
              <a:rPr lang="zh-CN" altLang="en-US" sz="1400" i="1" dirty="0"/>
              <a:t>子系统的全局实例，便于在游戏任何地方访问。</a:t>
            </a:r>
            <a:endParaRPr lang="en-US" altLang="zh-CN" sz="1400" dirty="0"/>
          </a:p>
          <a:p>
            <a:r>
              <a:rPr lang="en-US" altLang="zh-CN" sz="1400" dirty="0" err="1"/>
              <a:t>ShouldCreateSubsystem</a:t>
            </a:r>
            <a:r>
              <a:rPr lang="zh-CN" altLang="en-US" sz="1400" dirty="0"/>
              <a:t>函数</a:t>
            </a:r>
            <a:r>
              <a:rPr lang="zh-CN" altLang="en-US" sz="1400" i="1" dirty="0"/>
              <a:t>重写此函数以控制子系统何时被创建，避免不必要的实例化。</a:t>
            </a:r>
            <a:endParaRPr lang="en-US" altLang="zh-CN" sz="1400" i="1" dirty="0"/>
          </a:p>
          <a:p>
            <a:r>
              <a:rPr lang="en-US" altLang="zh-CN" sz="1400" dirty="0" err="1"/>
              <a:t>RegisterCreatedPrimaryLayoutWidget</a:t>
            </a:r>
            <a:r>
              <a:rPr lang="zh-CN" altLang="en-US" sz="1400" dirty="0"/>
              <a:t>函数，</a:t>
            </a:r>
            <a:r>
              <a:rPr lang="zh-CN" altLang="en-US" sz="1400" i="1" dirty="0"/>
              <a:t>注册已创建的主布局控件，为后续</a:t>
            </a:r>
            <a:r>
              <a:rPr lang="en-US" altLang="zh-CN" sz="1400" i="1" dirty="0"/>
              <a:t>UI</a:t>
            </a:r>
            <a:r>
              <a:rPr lang="zh-CN" altLang="en-US" sz="1400" i="1" dirty="0"/>
              <a:t>操作建立根容器。</a:t>
            </a:r>
            <a:endParaRPr lang="en-US" altLang="zh-CN" sz="1400" i="1" dirty="0"/>
          </a:p>
          <a:p>
            <a:r>
              <a:rPr lang="en-US" altLang="zh-CN" sz="1400" dirty="0" err="1"/>
              <a:t>PushSoftWidgetToStackAsync</a:t>
            </a:r>
            <a:r>
              <a:rPr lang="zh-CN" altLang="en-US" sz="1400" dirty="0"/>
              <a:t>函数为</a:t>
            </a:r>
            <a:r>
              <a:rPr lang="zh-CN" altLang="en-US" sz="1400" i="1" dirty="0"/>
              <a:t>主要的异步</a:t>
            </a:r>
            <a:r>
              <a:rPr lang="en-US" altLang="zh-CN" sz="1400" i="1" dirty="0"/>
              <a:t>UI</a:t>
            </a:r>
            <a:r>
              <a:rPr lang="zh-CN" altLang="en-US" sz="1400" i="1" dirty="0"/>
              <a:t>推送方法：将软引用的控件类异步加载并添加到指定控件栈。</a:t>
            </a:r>
            <a:endParaRPr lang="zh-CN" altLang="en-US" sz="1400" dirty="0"/>
          </a:p>
        </p:txBody>
      </p:sp>
      <p:sp>
        <p:nvSpPr>
          <p:cNvPr id="45" name="标题 1">
            <a:extLst>
              <a:ext uri="{FF2B5EF4-FFF2-40B4-BE49-F238E27FC236}">
                <a16:creationId xmlns:a16="http://schemas.microsoft.com/office/drawing/2014/main" id="{63576653-12A8-EF7D-FE20-45FB6F74D61F}"/>
              </a:ext>
            </a:extLst>
          </p:cNvPr>
          <p:cNvSpPr txBox="1">
            <a:spLocks/>
          </p:cNvSpPr>
          <p:nvPr/>
        </p:nvSpPr>
        <p:spPr>
          <a:xfrm>
            <a:off x="7611649" y="4194669"/>
            <a:ext cx="3985365" cy="348083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CN" sz="2000" b="1" dirty="0"/>
              <a:t>• </a:t>
            </a:r>
            <a:r>
              <a:rPr lang="en-US" altLang="zh-CN" sz="2000" dirty="0" err="1"/>
              <a:t>UGameInstanceSubsystem</a:t>
            </a:r>
            <a:r>
              <a:rPr lang="zh-CN" altLang="en-US" sz="2000" dirty="0"/>
              <a:t>优点</a:t>
            </a:r>
            <a:endParaRPr lang="en-US" altLang="zh-CN" sz="2000" dirty="0"/>
          </a:p>
        </p:txBody>
      </p:sp>
      <p:sp>
        <p:nvSpPr>
          <p:cNvPr id="46" name="文本框 45">
            <a:extLst>
              <a:ext uri="{FF2B5EF4-FFF2-40B4-BE49-F238E27FC236}">
                <a16:creationId xmlns:a16="http://schemas.microsoft.com/office/drawing/2014/main" id="{1DEEA543-44E3-01BD-3212-1171DE2B5DD4}"/>
              </a:ext>
            </a:extLst>
          </p:cNvPr>
          <p:cNvSpPr txBox="1"/>
          <p:nvPr/>
        </p:nvSpPr>
        <p:spPr>
          <a:xfrm>
            <a:off x="7903923" y="4600483"/>
            <a:ext cx="3945311" cy="7386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AutoNum type="arabicPeriod"/>
            </a:pPr>
            <a:r>
              <a:rPr lang="zh-CN" altLang="en-US" sz="1400" b="1" dirty="0"/>
              <a:t>自动实例化并具有托管生命周期的类</a:t>
            </a:r>
            <a:endParaRPr lang="en-US" altLang="zh-CN" sz="1400" b="1" dirty="0"/>
          </a:p>
          <a:p>
            <a:pPr marL="342900" indent="-342900">
              <a:buAutoNum type="arabicPeriod"/>
            </a:pPr>
            <a:r>
              <a:rPr lang="zh-CN" altLang="en-US" sz="1400" b="1" dirty="0"/>
              <a:t>避免在已经很繁忙的类上添加更多</a:t>
            </a:r>
            <a:r>
              <a:rPr lang="en-US" altLang="zh-CN" sz="1400" b="1" dirty="0"/>
              <a:t>API</a:t>
            </a:r>
          </a:p>
          <a:p>
            <a:pPr marL="342900" indent="-342900">
              <a:buAutoNum type="arabicPeriod"/>
            </a:pPr>
            <a:r>
              <a:rPr lang="zh-CN" altLang="en-US" sz="1400" b="1" dirty="0"/>
              <a:t>一个可以从蓝图和</a:t>
            </a:r>
            <a:r>
              <a:rPr lang="en-US" altLang="zh-CN" sz="1400" b="1" dirty="0"/>
              <a:t>C++</a:t>
            </a:r>
            <a:r>
              <a:rPr lang="zh-CN" altLang="en-US" sz="1400" b="1" dirty="0"/>
              <a:t>轻松访问的全局对象</a:t>
            </a:r>
            <a:endParaRPr lang="zh-CN" altLang="en-US" sz="1400" dirty="0"/>
          </a:p>
        </p:txBody>
      </p:sp>
    </p:spTree>
    <p:extLst>
      <p:ext uri="{BB962C8B-B14F-4D97-AF65-F5344CB8AC3E}">
        <p14:creationId xmlns:p14="http://schemas.microsoft.com/office/powerpoint/2010/main" val="334751085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DDD08F-8910-8A13-061E-1C7438125C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AF6F773-17C3-4477-0122-FEF97A72C82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597224" y="227022"/>
            <a:ext cx="2115995" cy="632539"/>
          </a:xfrm>
        </p:spPr>
        <p:txBody>
          <a:bodyPr>
            <a:normAutofit fontScale="90000"/>
          </a:bodyPr>
          <a:lstStyle/>
          <a:p>
            <a:r>
              <a:rPr lang="zh-CN" altLang="en-US" sz="4000" dirty="0"/>
              <a:t>类的功能</a:t>
            </a:r>
          </a:p>
        </p:txBody>
      </p:sp>
      <p:sp>
        <p:nvSpPr>
          <p:cNvPr id="7" name="标题 1">
            <a:extLst>
              <a:ext uri="{FF2B5EF4-FFF2-40B4-BE49-F238E27FC236}">
                <a16:creationId xmlns:a16="http://schemas.microsoft.com/office/drawing/2014/main" id="{5F7B32BE-E6EB-E37E-A045-97A100F10AC1}"/>
              </a:ext>
            </a:extLst>
          </p:cNvPr>
          <p:cNvSpPr txBox="1">
            <a:spLocks/>
          </p:cNvSpPr>
          <p:nvPr/>
        </p:nvSpPr>
        <p:spPr>
          <a:xfrm>
            <a:off x="594986" y="807929"/>
            <a:ext cx="3206663" cy="348083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CN" sz="2000" b="1" dirty="0"/>
              <a:t>• </a:t>
            </a:r>
            <a:r>
              <a:rPr lang="en-US" altLang="zh-CN" sz="2000" b="1" dirty="0" err="1"/>
              <a:t>WBP_CUW_PrimaryLayout</a:t>
            </a:r>
            <a:endParaRPr lang="en-US" altLang="zh-CN" sz="2000" b="1" dirty="0"/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EC04B8D0-0273-B96E-0623-B7EB004AB7B5}"/>
              </a:ext>
            </a:extLst>
          </p:cNvPr>
          <p:cNvSpPr txBox="1"/>
          <p:nvPr/>
        </p:nvSpPr>
        <p:spPr>
          <a:xfrm>
            <a:off x="745298" y="1156012"/>
            <a:ext cx="695194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 dirty="0"/>
              <a:t>在初始化函数中使用</a:t>
            </a:r>
            <a:r>
              <a:rPr lang="en-US" altLang="zh-CN" sz="1400" dirty="0" err="1"/>
              <a:t>RegisterWidgetStack</a:t>
            </a:r>
            <a:r>
              <a:rPr lang="zh-CN" altLang="en-US" sz="1400" dirty="0"/>
              <a:t>注册各种界面栈。</a:t>
            </a:r>
          </a:p>
        </p:txBody>
      </p:sp>
      <p:sp>
        <p:nvSpPr>
          <p:cNvPr id="19" name="标题 1">
            <a:extLst>
              <a:ext uri="{FF2B5EF4-FFF2-40B4-BE49-F238E27FC236}">
                <a16:creationId xmlns:a16="http://schemas.microsoft.com/office/drawing/2014/main" id="{49791F7E-410F-C1F1-0621-B6EFF83E9DF9}"/>
              </a:ext>
            </a:extLst>
          </p:cNvPr>
          <p:cNvSpPr txBox="1">
            <a:spLocks/>
          </p:cNvSpPr>
          <p:nvPr/>
        </p:nvSpPr>
        <p:spPr>
          <a:xfrm>
            <a:off x="594986" y="1463789"/>
            <a:ext cx="3626285" cy="348083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CN" sz="2000" dirty="0"/>
              <a:t>•</a:t>
            </a:r>
            <a:r>
              <a:rPr lang="en-US" altLang="zh-CN" sz="2000" b="1" dirty="0" err="1"/>
              <a:t>UAsyncAction_PushSoftWidget</a:t>
            </a:r>
            <a:endParaRPr lang="en-US" altLang="zh-CN" sz="2000" b="1" dirty="0"/>
          </a:p>
        </p:txBody>
      </p:sp>
      <p:sp>
        <p:nvSpPr>
          <p:cNvPr id="36" name="文本框 35">
            <a:extLst>
              <a:ext uri="{FF2B5EF4-FFF2-40B4-BE49-F238E27FC236}">
                <a16:creationId xmlns:a16="http://schemas.microsoft.com/office/drawing/2014/main" id="{0601CE13-410E-01EE-EF90-58D4B084E9DA}"/>
              </a:ext>
            </a:extLst>
          </p:cNvPr>
          <p:cNvSpPr txBox="1"/>
          <p:nvPr/>
        </p:nvSpPr>
        <p:spPr>
          <a:xfrm>
            <a:off x="745298" y="1811872"/>
            <a:ext cx="6951946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 dirty="0"/>
              <a:t>提供</a:t>
            </a:r>
            <a:r>
              <a:rPr lang="en-US" altLang="zh-CN" sz="1400" dirty="0" err="1"/>
              <a:t>PushSoftWidget</a:t>
            </a:r>
            <a:r>
              <a:rPr lang="zh-CN" altLang="en-US" sz="1400" dirty="0"/>
              <a:t>函数作为静态工厂函数，</a:t>
            </a:r>
            <a:r>
              <a:rPr lang="zh-CN" altLang="en-US" sz="1400" i="1" dirty="0"/>
              <a:t>创建并返回一个异步推送控件的操作节点实例。此函数暴露为蓝图可调用节点。并且用</a:t>
            </a:r>
            <a:r>
              <a:rPr lang="en-US" altLang="zh-CN" sz="1400" dirty="0" err="1"/>
              <a:t>RegisterWithGameInstance</a:t>
            </a:r>
            <a:r>
              <a:rPr lang="zh-CN" altLang="en-US" sz="1400" i="1" dirty="0"/>
              <a:t>将节点注册到游戏实例中，使其生命周期与游戏实例绑定。</a:t>
            </a:r>
            <a:endParaRPr lang="en-US" altLang="zh-CN" sz="1400" dirty="0"/>
          </a:p>
          <a:p>
            <a:r>
              <a:rPr lang="zh-CN" altLang="en-US" sz="1400" dirty="0"/>
              <a:t>提供</a:t>
            </a:r>
            <a:r>
              <a:rPr lang="en-US" altLang="zh-CN" sz="1400" dirty="0"/>
              <a:t>Activate</a:t>
            </a:r>
            <a:r>
              <a:rPr lang="zh-CN" altLang="en-US" sz="1400" dirty="0"/>
              <a:t>函数</a:t>
            </a:r>
            <a:r>
              <a:rPr lang="zh-CN" altLang="en-US" sz="1400" i="1" dirty="0"/>
              <a:t>异步操作的激活函数，在蓝图执行流到达此节点时自动调用。</a:t>
            </a:r>
          </a:p>
        </p:txBody>
      </p:sp>
      <p:sp>
        <p:nvSpPr>
          <p:cNvPr id="37" name="标题 1">
            <a:extLst>
              <a:ext uri="{FF2B5EF4-FFF2-40B4-BE49-F238E27FC236}">
                <a16:creationId xmlns:a16="http://schemas.microsoft.com/office/drawing/2014/main" id="{69664C79-C8EB-F591-37AA-657EAAA949C8}"/>
              </a:ext>
            </a:extLst>
          </p:cNvPr>
          <p:cNvSpPr txBox="1">
            <a:spLocks/>
          </p:cNvSpPr>
          <p:nvPr/>
        </p:nvSpPr>
        <p:spPr>
          <a:xfrm>
            <a:off x="533616" y="2810893"/>
            <a:ext cx="3206663" cy="348083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CN" sz="2000" b="1" dirty="0"/>
              <a:t>• </a:t>
            </a:r>
            <a:r>
              <a:rPr lang="en-US" altLang="zh-CN" sz="2000" b="1" dirty="0" err="1"/>
              <a:t>BP_FrontendController</a:t>
            </a:r>
            <a:endParaRPr lang="en-US" altLang="zh-CN" sz="2000" b="1" dirty="0"/>
          </a:p>
        </p:txBody>
      </p:sp>
      <p:sp>
        <p:nvSpPr>
          <p:cNvPr id="44" name="文本框 43">
            <a:extLst>
              <a:ext uri="{FF2B5EF4-FFF2-40B4-BE49-F238E27FC236}">
                <a16:creationId xmlns:a16="http://schemas.microsoft.com/office/drawing/2014/main" id="{92C304A5-9EB5-3194-27DA-88B3C2A0864B}"/>
              </a:ext>
            </a:extLst>
          </p:cNvPr>
          <p:cNvSpPr txBox="1"/>
          <p:nvPr/>
        </p:nvSpPr>
        <p:spPr>
          <a:xfrm>
            <a:off x="683928" y="3301103"/>
            <a:ext cx="6951946" cy="18774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 i="1" dirty="0"/>
              <a:t>重写</a:t>
            </a:r>
            <a:r>
              <a:rPr lang="en-US" altLang="zh-CN" sz="1400" i="1" dirty="0"/>
              <a:t>UE</a:t>
            </a:r>
            <a:r>
              <a:rPr lang="zh-CN" altLang="en-US" sz="1400" i="1" dirty="0"/>
              <a:t>的</a:t>
            </a:r>
            <a:r>
              <a:rPr lang="en-US" altLang="zh-CN" sz="1400" i="1" dirty="0" err="1"/>
              <a:t>ReceivePossess</a:t>
            </a:r>
            <a:r>
              <a:rPr lang="zh-CN" altLang="en-US" sz="1400" i="1" dirty="0"/>
              <a:t>事件函数，并在改函数下完成以下步骤。</a:t>
            </a:r>
            <a:endParaRPr lang="en-US" altLang="zh-CN" sz="1400" i="1" dirty="0"/>
          </a:p>
          <a:p>
            <a:pPr marL="342900" indent="-342900">
              <a:buAutoNum type="arabicPeriod"/>
            </a:pPr>
            <a:r>
              <a:rPr lang="zh-CN" altLang="en-US" sz="1400" dirty="0"/>
              <a:t>同步加载并创建主布局</a:t>
            </a:r>
            <a:r>
              <a:rPr lang="en-US" altLang="zh-CN" sz="1400" dirty="0"/>
              <a:t>UI</a:t>
            </a:r>
            <a:r>
              <a:rPr lang="zh-CN" altLang="en-US" sz="1400" dirty="0"/>
              <a:t>控件，使用</a:t>
            </a:r>
            <a:r>
              <a:rPr lang="en-US" altLang="zh-CN" sz="1400" dirty="0"/>
              <a:t>UE</a:t>
            </a:r>
            <a:r>
              <a:rPr lang="zh-CN" altLang="en-US" sz="1400" dirty="0"/>
              <a:t>的反射系统，根据路径加载</a:t>
            </a:r>
            <a:r>
              <a:rPr lang="en-US" altLang="zh-CN" sz="1400" dirty="0"/>
              <a:t>UI</a:t>
            </a:r>
            <a:r>
              <a:rPr lang="zh-CN" altLang="en-US" sz="1400" dirty="0"/>
              <a:t>控件蓝图类（</a:t>
            </a:r>
            <a:r>
              <a:rPr lang="en-US" altLang="zh-CN" sz="1400" dirty="0" err="1"/>
              <a:t>WBP_CUW_PrimaryLayout</a:t>
            </a:r>
            <a:r>
              <a:rPr lang="zh-CN" altLang="en-US" sz="1400" dirty="0"/>
              <a:t>）。</a:t>
            </a:r>
            <a:endParaRPr lang="en-US" altLang="zh-CN" sz="1400" dirty="0"/>
          </a:p>
          <a:p>
            <a:pPr marL="342900" indent="-342900">
              <a:buFontTx/>
              <a:buAutoNum type="arabicPeriod"/>
            </a:pPr>
            <a:r>
              <a:rPr lang="zh-CN" altLang="en-US" sz="1400" dirty="0"/>
              <a:t>从获取前端</a:t>
            </a:r>
            <a:r>
              <a:rPr lang="en-US" altLang="zh-CN" sz="1400" dirty="0"/>
              <a:t>UI</a:t>
            </a:r>
            <a:r>
              <a:rPr lang="zh-CN" altLang="en-US" sz="1400" dirty="0"/>
              <a:t>子系统并注册主布局控件，</a:t>
            </a:r>
            <a:r>
              <a:rPr lang="en-US" altLang="zh-CN" sz="1400" dirty="0"/>
              <a:t> </a:t>
            </a:r>
            <a:r>
              <a:rPr lang="zh-CN" altLang="en-US" sz="1400" dirty="0"/>
              <a:t>获取前端</a:t>
            </a:r>
            <a:r>
              <a:rPr lang="en-US" altLang="zh-CN" sz="1400" dirty="0"/>
              <a:t>UI</a:t>
            </a:r>
            <a:r>
              <a:rPr lang="zh-CN" altLang="en-US" sz="1400" dirty="0"/>
              <a:t>子系统的全局实例，它是管理所有前端</a:t>
            </a:r>
            <a:r>
              <a:rPr lang="en-US" altLang="zh-CN" sz="1400" dirty="0"/>
              <a:t>UI</a:t>
            </a:r>
            <a:r>
              <a:rPr lang="zh-CN" altLang="en-US" sz="1400" dirty="0"/>
              <a:t>的中心枢纽。然后注册控件到系统。</a:t>
            </a:r>
            <a:endParaRPr lang="en-US" altLang="zh-CN" sz="1400" dirty="0"/>
          </a:p>
          <a:p>
            <a:pPr marL="342900" indent="-342900">
              <a:buFontTx/>
              <a:buAutoNum type="arabicPeriod"/>
            </a:pPr>
            <a:r>
              <a:rPr lang="zh-CN" altLang="en-US" sz="1400" dirty="0"/>
              <a:t>异步推送初始界面到指定的</a:t>
            </a:r>
            <a:r>
              <a:rPr lang="en-US" altLang="zh-CN" sz="1400" dirty="0"/>
              <a:t>UI</a:t>
            </a:r>
            <a:r>
              <a:rPr lang="zh-CN" altLang="en-US" sz="1400" dirty="0"/>
              <a:t>堆栈，通过一个自定义的函数</a:t>
            </a:r>
            <a:r>
              <a:rPr lang="en-US" altLang="zh-CN" sz="1400" dirty="0" err="1"/>
              <a:t>PushSoftWidget</a:t>
            </a:r>
            <a:r>
              <a:rPr lang="zh-CN" altLang="en-US" sz="1400" dirty="0"/>
              <a:t>，（或数据资产）根据标签（</a:t>
            </a:r>
            <a:r>
              <a:rPr lang="en-US" altLang="zh-CN" sz="1400" dirty="0"/>
              <a:t>Tag</a:t>
            </a:r>
            <a:r>
              <a:rPr lang="zh-CN" altLang="en-US" sz="1400" dirty="0"/>
              <a:t>）获取要推送的控件类的软引用（</a:t>
            </a:r>
            <a:r>
              <a:rPr lang="en-US" altLang="zh-CN" sz="1400" dirty="0"/>
              <a:t>Soft Reference</a:t>
            </a:r>
            <a:r>
              <a:rPr lang="zh-CN" altLang="en-US" sz="1400" dirty="0"/>
              <a:t>），软引用允许异步加载资源，避免主线程卡顿，特别适合大型</a:t>
            </a:r>
            <a:r>
              <a:rPr lang="en-US" altLang="zh-CN" sz="1400" dirty="0"/>
              <a:t>UI</a:t>
            </a:r>
            <a:r>
              <a:rPr lang="zh-CN" altLang="en-US" sz="1400" dirty="0"/>
              <a:t>资源。</a:t>
            </a:r>
          </a:p>
        </p:txBody>
      </p:sp>
      <p:sp>
        <p:nvSpPr>
          <p:cNvPr id="3" name="标题 1">
            <a:extLst>
              <a:ext uri="{FF2B5EF4-FFF2-40B4-BE49-F238E27FC236}">
                <a16:creationId xmlns:a16="http://schemas.microsoft.com/office/drawing/2014/main" id="{94C34CAE-D457-D9A5-7065-F6CC85421A6B}"/>
              </a:ext>
            </a:extLst>
          </p:cNvPr>
          <p:cNvSpPr txBox="1">
            <a:spLocks/>
          </p:cNvSpPr>
          <p:nvPr/>
        </p:nvSpPr>
        <p:spPr>
          <a:xfrm>
            <a:off x="533615" y="5178540"/>
            <a:ext cx="3206663" cy="348083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CN" sz="2000" b="1" dirty="0"/>
              <a:t>• </a:t>
            </a:r>
            <a:r>
              <a:rPr lang="en-US" altLang="zh-CN" sz="2000" b="1" dirty="0" err="1"/>
              <a:t>WBP_Template_Layout</a:t>
            </a:r>
            <a:endParaRPr lang="en-US" altLang="zh-CN" sz="2000" b="1" dirty="0"/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2CCD3B68-D834-D635-F647-9E98F0ECC027}"/>
              </a:ext>
            </a:extLst>
          </p:cNvPr>
          <p:cNvSpPr txBox="1"/>
          <p:nvPr/>
        </p:nvSpPr>
        <p:spPr>
          <a:xfrm>
            <a:off x="683928" y="5526623"/>
            <a:ext cx="695194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 dirty="0"/>
              <a:t>使用一个</a:t>
            </a:r>
            <a:r>
              <a:rPr lang="zh-CN" altLang="en-US" sz="1400" b="1" dirty="0"/>
              <a:t>模板布局（</a:t>
            </a:r>
            <a:r>
              <a:rPr lang="en-US" altLang="zh-CN" sz="1400" b="1" dirty="0"/>
              <a:t>Template Layout</a:t>
            </a:r>
            <a:r>
              <a:rPr lang="zh-CN" altLang="en-US" sz="1400" b="1" dirty="0"/>
              <a:t>）作为所有</a:t>
            </a:r>
            <a:r>
              <a:rPr lang="en-US" altLang="zh-CN" sz="1400" b="1" dirty="0"/>
              <a:t>UI</a:t>
            </a:r>
            <a:r>
              <a:rPr lang="zh-CN" altLang="en-US" sz="1400" b="1" dirty="0"/>
              <a:t>的基类</a:t>
            </a:r>
            <a:r>
              <a:rPr lang="zh-CN" altLang="en-US" sz="1400" dirty="0"/>
              <a:t>，提供命名扩展点（</a:t>
            </a:r>
            <a:r>
              <a:rPr lang="en-US" altLang="zh-CN" sz="1400" dirty="0"/>
              <a:t>Named Slots</a:t>
            </a:r>
            <a:r>
              <a:rPr lang="zh-CN" altLang="en-US" sz="1400" dirty="0"/>
              <a:t>），供子</a:t>
            </a:r>
            <a:r>
              <a:rPr lang="en-US" altLang="zh-CN" sz="1400" dirty="0"/>
              <a:t>Widget</a:t>
            </a:r>
            <a:r>
              <a:rPr lang="zh-CN" altLang="en-US" sz="1400" dirty="0"/>
              <a:t>填充内容。</a:t>
            </a:r>
          </a:p>
        </p:txBody>
      </p:sp>
    </p:spTree>
    <p:extLst>
      <p:ext uri="{BB962C8B-B14F-4D97-AF65-F5344CB8AC3E}">
        <p14:creationId xmlns:p14="http://schemas.microsoft.com/office/powerpoint/2010/main" val="361322448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2D4DB9-617C-E728-C42A-7888669AB7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5E9350D-2CE0-BCB3-08F7-9C094F5BFCE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597224" y="227022"/>
            <a:ext cx="2115995" cy="632539"/>
          </a:xfrm>
        </p:spPr>
        <p:txBody>
          <a:bodyPr>
            <a:normAutofit fontScale="90000"/>
          </a:bodyPr>
          <a:lstStyle/>
          <a:p>
            <a:r>
              <a:rPr lang="zh-CN" altLang="en-US" sz="4000" dirty="0"/>
              <a:t>类的功能</a:t>
            </a:r>
          </a:p>
        </p:txBody>
      </p:sp>
      <p:sp>
        <p:nvSpPr>
          <p:cNvPr id="7" name="标题 1">
            <a:extLst>
              <a:ext uri="{FF2B5EF4-FFF2-40B4-BE49-F238E27FC236}">
                <a16:creationId xmlns:a16="http://schemas.microsoft.com/office/drawing/2014/main" id="{22C56C9F-E0C1-A2D6-66E8-1066A08FE6CA}"/>
              </a:ext>
            </a:extLst>
          </p:cNvPr>
          <p:cNvSpPr txBox="1">
            <a:spLocks/>
          </p:cNvSpPr>
          <p:nvPr/>
        </p:nvSpPr>
        <p:spPr>
          <a:xfrm>
            <a:off x="594986" y="807929"/>
            <a:ext cx="3206663" cy="348083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CN" sz="2000" b="1" dirty="0"/>
              <a:t>• </a:t>
            </a:r>
            <a:r>
              <a:rPr lang="en-US" altLang="zh-CN" sz="2000" b="1" dirty="0" err="1"/>
              <a:t>UWidget_ActivatableBase</a:t>
            </a:r>
            <a:endParaRPr lang="en-US" altLang="zh-CN" sz="2000" b="1" dirty="0"/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D1B8E39-9DF0-5100-DE9B-9963B9E30C58}"/>
              </a:ext>
            </a:extLst>
          </p:cNvPr>
          <p:cNvSpPr txBox="1"/>
          <p:nvPr/>
        </p:nvSpPr>
        <p:spPr>
          <a:xfrm>
            <a:off x="745298" y="1156012"/>
            <a:ext cx="6951946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 dirty="0"/>
              <a:t>创建部分工具函数供蓝图使用。</a:t>
            </a:r>
            <a:endParaRPr lang="en-US" altLang="zh-CN" sz="1400" dirty="0"/>
          </a:p>
          <a:p>
            <a:r>
              <a:rPr lang="en-US" altLang="zh-CN" sz="1400" dirty="0" err="1"/>
              <a:t>GetOwningFrontendPlayerController</a:t>
            </a:r>
            <a:r>
              <a:rPr lang="zh-CN" altLang="en-US" sz="1400" dirty="0"/>
              <a:t>函数，获取归属的前端玩家控制器，此函数采用懒加载（</a:t>
            </a:r>
            <a:r>
              <a:rPr lang="en-US" altLang="zh-CN" sz="1400" dirty="0"/>
              <a:t>Lazy-loading</a:t>
            </a:r>
            <a:r>
              <a:rPr lang="zh-CN" altLang="en-US" sz="1400" dirty="0"/>
              <a:t>）和缓存机制，避免重复查找，提升性能</a:t>
            </a:r>
            <a:r>
              <a:rPr lang="zh-CN" altLang="en-US" sz="1400" i="1" dirty="0"/>
              <a:t>。</a:t>
            </a:r>
            <a:endParaRPr lang="en-US" altLang="zh-CN" sz="1400" i="1" dirty="0"/>
          </a:p>
          <a:p>
            <a:r>
              <a:rPr lang="en-US" altLang="zh-CN" sz="1400" dirty="0" err="1"/>
              <a:t>GetInputSubsystem</a:t>
            </a:r>
            <a:r>
              <a:rPr lang="en-US" altLang="zh-CN" sz="1400" dirty="0"/>
              <a:t>()</a:t>
            </a:r>
            <a:r>
              <a:rPr lang="zh-CN" altLang="en-US" sz="1400" dirty="0"/>
              <a:t>函数，获取通用输入子系统（</a:t>
            </a:r>
            <a:r>
              <a:rPr lang="en-US" altLang="zh-CN" sz="1400" dirty="0" err="1"/>
              <a:t>CommonInputSubsystem</a:t>
            </a:r>
            <a:r>
              <a:rPr lang="zh-CN" altLang="en-US" sz="1400" dirty="0"/>
              <a:t>），用于处理不同输入设备（如键盘、手柄、触摸屏）的抽象和切换。</a:t>
            </a:r>
          </a:p>
        </p:txBody>
      </p:sp>
      <p:sp>
        <p:nvSpPr>
          <p:cNvPr id="37" name="标题 1">
            <a:extLst>
              <a:ext uri="{FF2B5EF4-FFF2-40B4-BE49-F238E27FC236}">
                <a16:creationId xmlns:a16="http://schemas.microsoft.com/office/drawing/2014/main" id="{CE21F355-4F7D-A7FC-7F46-F0FE6DB4593D}"/>
              </a:ext>
            </a:extLst>
          </p:cNvPr>
          <p:cNvSpPr txBox="1">
            <a:spLocks/>
          </p:cNvSpPr>
          <p:nvPr/>
        </p:nvSpPr>
        <p:spPr>
          <a:xfrm>
            <a:off x="594986" y="2325563"/>
            <a:ext cx="3206663" cy="348083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CN" sz="2000" b="1" dirty="0"/>
              <a:t>• </a:t>
            </a:r>
            <a:r>
              <a:rPr lang="en-US" altLang="zh-CN" sz="2000" b="1" dirty="0" err="1"/>
              <a:t>WBP_CAW_PressAnyKey</a:t>
            </a:r>
            <a:endParaRPr lang="en-US" altLang="zh-CN" sz="2000" b="1" dirty="0"/>
          </a:p>
        </p:txBody>
      </p:sp>
      <p:sp>
        <p:nvSpPr>
          <p:cNvPr id="44" name="文本框 43">
            <a:extLst>
              <a:ext uri="{FF2B5EF4-FFF2-40B4-BE49-F238E27FC236}">
                <a16:creationId xmlns:a16="http://schemas.microsoft.com/office/drawing/2014/main" id="{230C64AD-FA36-63EA-3C90-282E69D92851}"/>
              </a:ext>
            </a:extLst>
          </p:cNvPr>
          <p:cNvSpPr txBox="1"/>
          <p:nvPr/>
        </p:nvSpPr>
        <p:spPr>
          <a:xfrm>
            <a:off x="638827" y="2673646"/>
            <a:ext cx="695194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 dirty="0"/>
              <a:t>使用</a:t>
            </a:r>
            <a:r>
              <a:rPr lang="en-US" altLang="zh-CN" sz="1400" b="1" dirty="0" err="1"/>
              <a:t>WBP_Template_Layout</a:t>
            </a:r>
            <a:r>
              <a:rPr lang="zh-CN" altLang="en-US" sz="1400" dirty="0"/>
              <a:t>模板制作界面</a:t>
            </a:r>
            <a:r>
              <a:rPr lang="zh-CN" altLang="en-US" sz="1400" b="1" dirty="0"/>
              <a:t>，</a:t>
            </a:r>
            <a:r>
              <a:rPr lang="zh-CN" altLang="en-US" sz="1400" dirty="0"/>
              <a:t>并且添加文字闪动动画效果。</a:t>
            </a:r>
          </a:p>
        </p:txBody>
      </p:sp>
      <p:sp>
        <p:nvSpPr>
          <p:cNvPr id="3" name="标题 1">
            <a:extLst>
              <a:ext uri="{FF2B5EF4-FFF2-40B4-BE49-F238E27FC236}">
                <a16:creationId xmlns:a16="http://schemas.microsoft.com/office/drawing/2014/main" id="{3FD2F201-EBB2-DF92-2FBE-EDCE3F83BF29}"/>
              </a:ext>
            </a:extLst>
          </p:cNvPr>
          <p:cNvSpPr txBox="1">
            <a:spLocks/>
          </p:cNvSpPr>
          <p:nvPr/>
        </p:nvSpPr>
        <p:spPr>
          <a:xfrm>
            <a:off x="683928" y="3021729"/>
            <a:ext cx="3206663" cy="348083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CN" sz="1800" b="1" dirty="0"/>
              <a:t>• </a:t>
            </a:r>
            <a:r>
              <a:rPr lang="en-US" altLang="zh-CN" sz="1800" b="1" dirty="0" err="1"/>
              <a:t>UFrontendDeveloperSettings</a:t>
            </a:r>
            <a:endParaRPr lang="en-US" altLang="zh-CN" sz="1800" b="1" dirty="0"/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03CA89E1-6A63-BF62-C1CD-AC75FFCA3AE2}"/>
              </a:ext>
            </a:extLst>
          </p:cNvPr>
          <p:cNvSpPr txBox="1"/>
          <p:nvPr/>
        </p:nvSpPr>
        <p:spPr>
          <a:xfrm>
            <a:off x="594986" y="3410118"/>
            <a:ext cx="6951946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 dirty="0"/>
              <a:t>继承自</a:t>
            </a:r>
            <a:r>
              <a:rPr lang="en-US" altLang="zh-CN" sz="1400" b="1" dirty="0" err="1"/>
              <a:t>UDeveloperSettings</a:t>
            </a:r>
            <a:r>
              <a:rPr lang="zh-CN" altLang="en-US" sz="1400" b="1" dirty="0"/>
              <a:t>基类</a:t>
            </a:r>
            <a:r>
              <a:rPr lang="zh-CN" altLang="en-US" sz="1400" dirty="0"/>
              <a:t>能够自动集成到</a:t>
            </a:r>
            <a:r>
              <a:rPr lang="en-US" altLang="zh-CN" sz="1400" dirty="0"/>
              <a:t>UE</a:t>
            </a:r>
            <a:r>
              <a:rPr lang="zh-CN" altLang="en-US" sz="1400" dirty="0"/>
              <a:t>编辑器的 </a:t>
            </a:r>
            <a:r>
              <a:rPr lang="en-US" altLang="zh-CN" sz="1400" b="1" dirty="0"/>
              <a:t>“Project Settings”</a:t>
            </a:r>
            <a:r>
              <a:rPr lang="zh-CN" altLang="en-US" sz="1400" dirty="0"/>
              <a:t>中。设计师和程序员无需修改</a:t>
            </a:r>
            <a:r>
              <a:rPr lang="en-US" altLang="zh-CN" sz="1400" dirty="0"/>
              <a:t>C++</a:t>
            </a:r>
            <a:r>
              <a:rPr lang="zh-CN" altLang="en-US" sz="1400" dirty="0"/>
              <a:t>代码，即可在编辑器中直观地配置这些映射关系，极大地提高了工作流效率。</a:t>
            </a:r>
            <a:endParaRPr lang="en-US" altLang="zh-CN" sz="1400" dirty="0"/>
          </a:p>
          <a:p>
            <a:r>
              <a:rPr lang="zh-CN" altLang="en-US" sz="1400" dirty="0"/>
              <a:t>提供了前端控件映射表将</a:t>
            </a:r>
            <a:r>
              <a:rPr lang="en-US" altLang="zh-CN" sz="1400" dirty="0" err="1"/>
              <a:t>GameplayTag</a:t>
            </a:r>
            <a:r>
              <a:rPr lang="zh-CN" altLang="en-US" sz="1400" dirty="0"/>
              <a:t>关联到可激活控件类的软引用（</a:t>
            </a:r>
            <a:r>
              <a:rPr lang="en-US" altLang="zh-CN" sz="1400" dirty="0"/>
              <a:t>Soft Reference</a:t>
            </a:r>
            <a:r>
              <a:rPr lang="zh-CN" altLang="en-US" sz="1400" dirty="0"/>
              <a:t>）。</a:t>
            </a:r>
            <a:endParaRPr lang="en-US" altLang="zh-CN" sz="1400" dirty="0"/>
          </a:p>
          <a:p>
            <a:r>
              <a:rPr lang="zh-CN" altLang="en-US" sz="1400" dirty="0"/>
              <a:t>用途：用于在运行时根据标签动态、异步地加载和实例化</a:t>
            </a:r>
            <a:r>
              <a:rPr lang="en-US" altLang="zh-CN" sz="1400" dirty="0"/>
              <a:t>UI</a:t>
            </a:r>
            <a:r>
              <a:rPr lang="zh-CN" altLang="en-US" sz="1400" dirty="0"/>
              <a:t>控件（如各种菜单、弹窗）</a:t>
            </a:r>
            <a:r>
              <a:rPr lang="zh-CN" altLang="en-US" i="1" dirty="0"/>
              <a:t>。</a:t>
            </a:r>
            <a:endParaRPr lang="zh-CN" altLang="en-US" sz="1400" dirty="0"/>
          </a:p>
        </p:txBody>
      </p:sp>
      <p:sp>
        <p:nvSpPr>
          <p:cNvPr id="5" name="标题 1">
            <a:extLst>
              <a:ext uri="{FF2B5EF4-FFF2-40B4-BE49-F238E27FC236}">
                <a16:creationId xmlns:a16="http://schemas.microsoft.com/office/drawing/2014/main" id="{B5FF54E2-EB1E-6F39-30A1-53D374DAE6A0}"/>
              </a:ext>
            </a:extLst>
          </p:cNvPr>
          <p:cNvSpPr txBox="1">
            <a:spLocks/>
          </p:cNvSpPr>
          <p:nvPr/>
        </p:nvSpPr>
        <p:spPr>
          <a:xfrm>
            <a:off x="638827" y="4856668"/>
            <a:ext cx="3206663" cy="348083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CN" sz="1800" b="1" dirty="0"/>
              <a:t>• </a:t>
            </a:r>
            <a:r>
              <a:rPr lang="en-US" altLang="zh-CN" sz="1800" b="1" dirty="0" err="1"/>
              <a:t>UFrontendFunctionLibrary</a:t>
            </a:r>
            <a:endParaRPr lang="en-US" altLang="zh-CN" sz="1800" b="1" dirty="0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8F839A94-5DED-A23C-0561-4FF051814BF8}"/>
              </a:ext>
            </a:extLst>
          </p:cNvPr>
          <p:cNvSpPr txBox="1"/>
          <p:nvPr/>
        </p:nvSpPr>
        <p:spPr>
          <a:xfrm>
            <a:off x="638827" y="5231312"/>
            <a:ext cx="695194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 dirty="0"/>
              <a:t>提供了</a:t>
            </a:r>
            <a:r>
              <a:rPr lang="en-US" altLang="zh-CN" sz="1400" dirty="0" err="1"/>
              <a:t>GetFrontendSoftWidgetClassByTag</a:t>
            </a:r>
            <a:r>
              <a:rPr lang="zh-CN" altLang="en-US" sz="1400" dirty="0"/>
              <a:t>函数</a:t>
            </a:r>
            <a:r>
              <a:rPr lang="zh-CN" altLang="en-US" sz="1400" i="1" dirty="0"/>
              <a:t>通过游戏标签获取前端控件类的软引用。</a:t>
            </a:r>
            <a:endParaRPr lang="zh-CN" altLang="en-US" sz="1400" dirty="0"/>
          </a:p>
          <a:p>
            <a:r>
              <a:rPr lang="zh-CN" altLang="en-US" sz="1400" dirty="0"/>
              <a:t>帮助将添加在映射表的</a:t>
            </a:r>
            <a:r>
              <a:rPr lang="en-US" altLang="zh-CN" sz="1400" dirty="0"/>
              <a:t>tag</a:t>
            </a:r>
            <a:r>
              <a:rPr lang="zh-CN" altLang="en-US" sz="1400" dirty="0"/>
              <a:t>通过</a:t>
            </a:r>
            <a:r>
              <a:rPr lang="en-US" altLang="zh-CN" sz="1400" dirty="0"/>
              <a:t>tag</a:t>
            </a:r>
            <a:r>
              <a:rPr lang="zh-CN" altLang="en-US" sz="1400" dirty="0"/>
              <a:t>调用软引用。解决了硬编码问题。</a:t>
            </a:r>
          </a:p>
        </p:txBody>
      </p:sp>
    </p:spTree>
    <p:extLst>
      <p:ext uri="{BB962C8B-B14F-4D97-AF65-F5344CB8AC3E}">
        <p14:creationId xmlns:p14="http://schemas.microsoft.com/office/powerpoint/2010/main" val="3971022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2208</TotalTime>
  <Words>927</Words>
  <Application>Microsoft Office PowerPoint</Application>
  <PresentationFormat>宽屏</PresentationFormat>
  <Paragraphs>80</Paragraphs>
  <Slides>6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6</vt:i4>
      </vt:variant>
    </vt:vector>
  </HeadingPairs>
  <TitlesOfParts>
    <vt:vector size="10" baseType="lpstr">
      <vt:lpstr>等线</vt:lpstr>
      <vt:lpstr>等线 Light</vt:lpstr>
      <vt:lpstr>Arial</vt:lpstr>
      <vt:lpstr>Office 主题​​</vt:lpstr>
      <vt:lpstr>类的设计</vt:lpstr>
      <vt:lpstr>第一部分:设置好CommonUI</vt:lpstr>
      <vt:lpstr>第一部分:设置好CommonUI</vt:lpstr>
      <vt:lpstr>类的功能</vt:lpstr>
      <vt:lpstr>类的功能</vt:lpstr>
      <vt:lpstr>类的功能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Minami Chen</dc:creator>
  <cp:lastModifiedBy>Minami Chen</cp:lastModifiedBy>
  <cp:revision>84</cp:revision>
  <dcterms:created xsi:type="dcterms:W3CDTF">2025-10-30T13:59:28Z</dcterms:created>
  <dcterms:modified xsi:type="dcterms:W3CDTF">2025-11-05T12:34:37Z</dcterms:modified>
</cp:coreProperties>
</file>